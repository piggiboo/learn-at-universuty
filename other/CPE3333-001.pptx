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สไตล์สีปานกลาง 2 - เน้น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sp>
        <p:nvSpPr>
          <p:cNvPr id="2" name="ชื่อเรื่อง 1"/>
          <p:cNvSpPr>
            <a:spLocks noGrp="1"/>
          </p:cNvSpPr>
          <p:nvPr>
            <p:ph type="ctrTitle"/>
          </p:nvPr>
        </p:nvSpPr>
        <p:spPr>
          <a:xfrm>
            <a:off x="1524000" y="1122363"/>
            <a:ext cx="9144000" cy="2387600"/>
          </a:xfrm>
        </p:spPr>
        <p:txBody>
          <a:bodyPr anchor="b"/>
          <a:lstStyle>
            <a:lvl1pPr algn="ctr">
              <a:defRPr sz="6000"/>
            </a:lvl1pPr>
          </a:lstStyle>
          <a:p>
            <a:r>
              <a:rPr lang="th-TH" smtClean="0"/>
              <a:t>คลิกเพื่อแก้ไขสไตล์ชื่อเรื่องต้นแบบ</a:t>
            </a:r>
            <a:endParaRPr lang="en-US"/>
          </a:p>
        </p:txBody>
      </p:sp>
      <p:sp>
        <p:nvSpPr>
          <p:cNvPr id="3" name="ชื่อเรื่องรอง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h-TH" smtClean="0"/>
              <a:t>คลิกเพื่อแก้ไขสไตล์ชื่อเรื่องรองต้นแบบ</a:t>
            </a:r>
            <a:endParaRPr lang="en-US"/>
          </a:p>
        </p:txBody>
      </p:sp>
      <p:sp>
        <p:nvSpPr>
          <p:cNvPr id="4" name="ตัวแทนวันที่ 3"/>
          <p:cNvSpPr>
            <a:spLocks noGrp="1"/>
          </p:cNvSpPr>
          <p:nvPr>
            <p:ph type="dt" sz="half" idx="10"/>
          </p:nvPr>
        </p:nvSpPr>
        <p:spPr/>
        <p:txBody>
          <a:body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11"/>
          </p:nvPr>
        </p:nvSpPr>
        <p:spPr/>
        <p:txBody>
          <a:bodyPr/>
          <a:lstStyle/>
          <a:p>
            <a:endParaRPr lang="en-US"/>
          </a:p>
        </p:txBody>
      </p:sp>
      <p:sp>
        <p:nvSpPr>
          <p:cNvPr id="6" name="ตัวแทนหมายเลขสไลด์ 5"/>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3994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th-TH" smtClean="0"/>
              <a:t>คลิกเพื่อแก้ไขสไตล์ชื่อเรื่องต้นแบบ</a:t>
            </a:r>
            <a:endParaRPr lang="en-US"/>
          </a:p>
        </p:txBody>
      </p:sp>
      <p:sp>
        <p:nvSpPr>
          <p:cNvPr id="3" name="ตัวแทนเนื้อหา 2"/>
          <p:cNvSpPr>
            <a:spLocks noGrp="1"/>
          </p:cNvSpPr>
          <p:nvPr>
            <p:ph idx="1"/>
          </p:nvPr>
        </p:nvSpPr>
        <p:spPr/>
        <p:txBody>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วันที่ 3"/>
          <p:cNvSpPr>
            <a:spLocks noGrp="1"/>
          </p:cNvSpPr>
          <p:nvPr>
            <p:ph type="dt" sz="half" idx="10"/>
          </p:nvPr>
        </p:nvSpPr>
        <p:spPr/>
        <p:txBody>
          <a:body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11"/>
          </p:nvPr>
        </p:nvSpPr>
        <p:spPr/>
        <p:txBody>
          <a:bodyPr/>
          <a:lstStyle/>
          <a:p>
            <a:endParaRPr lang="en-US"/>
          </a:p>
        </p:txBody>
      </p:sp>
      <p:sp>
        <p:nvSpPr>
          <p:cNvPr id="6" name="ตัวแทนหมายเลขสไลด์ 5"/>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752660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831850" y="1709738"/>
            <a:ext cx="10515600" cy="2852737"/>
          </a:xfrm>
        </p:spPr>
        <p:txBody>
          <a:bodyPr anchor="b"/>
          <a:lstStyle>
            <a:lvl1pPr>
              <a:defRPr sz="6000"/>
            </a:lvl1pPr>
          </a:lstStyle>
          <a:p>
            <a:r>
              <a:rPr lang="th-TH" smtClean="0"/>
              <a:t>คลิกเพื่อแก้ไขสไตล์ชื่อเรื่องต้นแบบ</a:t>
            </a:r>
            <a:endParaRPr lang="en-US"/>
          </a:p>
        </p:txBody>
      </p:sp>
      <p:sp>
        <p:nvSpPr>
          <p:cNvPr id="3" name="ตัวแทนข้อความ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h-TH" smtClean="0"/>
              <a:t>คลิกเพื่อแก้ไขสไตล์ของข้อความต้นแบบ</a:t>
            </a:r>
          </a:p>
        </p:txBody>
      </p:sp>
      <p:sp>
        <p:nvSpPr>
          <p:cNvPr id="4" name="ตัวแทนวันที่ 3"/>
          <p:cNvSpPr>
            <a:spLocks noGrp="1"/>
          </p:cNvSpPr>
          <p:nvPr>
            <p:ph type="dt" sz="half" idx="10"/>
          </p:nvPr>
        </p:nvSpPr>
        <p:spPr/>
        <p:txBody>
          <a:body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11"/>
          </p:nvPr>
        </p:nvSpPr>
        <p:spPr/>
        <p:txBody>
          <a:bodyPr/>
          <a:lstStyle/>
          <a:p>
            <a:endParaRPr lang="en-US"/>
          </a:p>
        </p:txBody>
      </p:sp>
      <p:sp>
        <p:nvSpPr>
          <p:cNvPr id="6" name="ตัวแทนหมายเลขสไลด์ 5"/>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1839745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th-TH" smtClean="0"/>
              <a:t>คลิกเพื่อแก้ไขสไตล์ชื่อเรื่องต้นแบบ</a:t>
            </a:r>
            <a:endParaRPr lang="en-US"/>
          </a:p>
        </p:txBody>
      </p:sp>
      <p:sp>
        <p:nvSpPr>
          <p:cNvPr id="3" name="ตัวแทนเนื้อหา 2"/>
          <p:cNvSpPr>
            <a:spLocks noGrp="1"/>
          </p:cNvSpPr>
          <p:nvPr>
            <p:ph sz="half" idx="1"/>
          </p:nvPr>
        </p:nvSpPr>
        <p:spPr>
          <a:xfrm>
            <a:off x="838200" y="1825625"/>
            <a:ext cx="5181600" cy="4351338"/>
          </a:xfrm>
        </p:spPr>
        <p:txBody>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เนื้อหา 3"/>
          <p:cNvSpPr>
            <a:spLocks noGrp="1"/>
          </p:cNvSpPr>
          <p:nvPr>
            <p:ph sz="half" idx="2"/>
          </p:nvPr>
        </p:nvSpPr>
        <p:spPr>
          <a:xfrm>
            <a:off x="6172200" y="1825625"/>
            <a:ext cx="5181600" cy="4351338"/>
          </a:xfrm>
        </p:spPr>
        <p:txBody>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5" name="ตัวแทนวันที่ 4"/>
          <p:cNvSpPr>
            <a:spLocks noGrp="1"/>
          </p:cNvSpPr>
          <p:nvPr>
            <p:ph type="dt" sz="half" idx="10"/>
          </p:nvPr>
        </p:nvSpPr>
        <p:spPr/>
        <p:txBody>
          <a:bodyPr/>
          <a:lstStyle/>
          <a:p>
            <a:fld id="{E5A7CC51-3ADC-4B96-960D-C7D7531B18AF}" type="datetimeFigureOut">
              <a:rPr lang="en-US" smtClean="0"/>
              <a:t>8/4/2026</a:t>
            </a:fld>
            <a:endParaRPr lang="en-US"/>
          </a:p>
        </p:txBody>
      </p:sp>
      <p:sp>
        <p:nvSpPr>
          <p:cNvPr id="6" name="ตัวแทนท้ายกระดาษ 5"/>
          <p:cNvSpPr>
            <a:spLocks noGrp="1"/>
          </p:cNvSpPr>
          <p:nvPr>
            <p:ph type="ftr" sz="quarter" idx="11"/>
          </p:nvPr>
        </p:nvSpPr>
        <p:spPr/>
        <p:txBody>
          <a:bodyPr/>
          <a:lstStyle/>
          <a:p>
            <a:endParaRPr lang="en-US"/>
          </a:p>
        </p:txBody>
      </p:sp>
      <p:sp>
        <p:nvSpPr>
          <p:cNvPr id="7" name="ตัวแทนหมายเลขสไลด์ 6"/>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1651806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839788" y="365125"/>
            <a:ext cx="10515600" cy="1325563"/>
          </a:xfrm>
        </p:spPr>
        <p:txBody>
          <a:bodyPr/>
          <a:lstStyle/>
          <a:p>
            <a:r>
              <a:rPr lang="th-TH" smtClean="0"/>
              <a:t>คลิกเพื่อแก้ไขสไตล์ชื่อเรื่องต้นแบบ</a:t>
            </a:r>
            <a:endParaRPr lang="en-US"/>
          </a:p>
        </p:txBody>
      </p:sp>
      <p:sp>
        <p:nvSpPr>
          <p:cNvPr id="3" name="ตัวแทนข้อความ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smtClean="0"/>
              <a:t>คลิกเพื่อแก้ไขสไตล์ของข้อความต้นแบบ</a:t>
            </a:r>
          </a:p>
        </p:txBody>
      </p:sp>
      <p:sp>
        <p:nvSpPr>
          <p:cNvPr id="4" name="ตัวแทนเนื้อหา 3"/>
          <p:cNvSpPr>
            <a:spLocks noGrp="1"/>
          </p:cNvSpPr>
          <p:nvPr>
            <p:ph sz="half" idx="2"/>
          </p:nvPr>
        </p:nvSpPr>
        <p:spPr>
          <a:xfrm>
            <a:off x="839788" y="2505075"/>
            <a:ext cx="5157787" cy="3684588"/>
          </a:xfrm>
        </p:spPr>
        <p:txBody>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5" name="ตัวแทนข้อความ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smtClean="0"/>
              <a:t>คลิกเพื่อแก้ไขสไตล์ของข้อความต้นแบบ</a:t>
            </a:r>
          </a:p>
        </p:txBody>
      </p:sp>
      <p:sp>
        <p:nvSpPr>
          <p:cNvPr id="6" name="ตัวแทนเนื้อหา 5"/>
          <p:cNvSpPr>
            <a:spLocks noGrp="1"/>
          </p:cNvSpPr>
          <p:nvPr>
            <p:ph sz="quarter" idx="4"/>
          </p:nvPr>
        </p:nvSpPr>
        <p:spPr>
          <a:xfrm>
            <a:off x="6172200" y="2505075"/>
            <a:ext cx="5183188" cy="3684588"/>
          </a:xfrm>
        </p:spPr>
        <p:txBody>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7" name="ตัวแทนวันที่ 6"/>
          <p:cNvSpPr>
            <a:spLocks noGrp="1"/>
          </p:cNvSpPr>
          <p:nvPr>
            <p:ph type="dt" sz="half" idx="10"/>
          </p:nvPr>
        </p:nvSpPr>
        <p:spPr/>
        <p:txBody>
          <a:bodyPr/>
          <a:lstStyle/>
          <a:p>
            <a:fld id="{E5A7CC51-3ADC-4B96-960D-C7D7531B18AF}" type="datetimeFigureOut">
              <a:rPr lang="en-US" smtClean="0"/>
              <a:t>8/4/2026</a:t>
            </a:fld>
            <a:endParaRPr lang="en-US"/>
          </a:p>
        </p:txBody>
      </p:sp>
      <p:sp>
        <p:nvSpPr>
          <p:cNvPr id="8" name="ตัวแทนท้ายกระดาษ 7"/>
          <p:cNvSpPr>
            <a:spLocks noGrp="1"/>
          </p:cNvSpPr>
          <p:nvPr>
            <p:ph type="ftr" sz="quarter" idx="11"/>
          </p:nvPr>
        </p:nvSpPr>
        <p:spPr/>
        <p:txBody>
          <a:bodyPr/>
          <a:lstStyle/>
          <a:p>
            <a:endParaRPr lang="en-US"/>
          </a:p>
        </p:txBody>
      </p:sp>
      <p:sp>
        <p:nvSpPr>
          <p:cNvPr id="9" name="ตัวแทนหมายเลขสไลด์ 8"/>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4109867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th-TH" smtClean="0"/>
              <a:t>คลิกเพื่อแก้ไขสไตล์ชื่อเรื่องต้นแบบ</a:t>
            </a:r>
            <a:endParaRPr lang="en-US"/>
          </a:p>
        </p:txBody>
      </p:sp>
      <p:sp>
        <p:nvSpPr>
          <p:cNvPr id="3" name="ตัวแทนวันที่ 2"/>
          <p:cNvSpPr>
            <a:spLocks noGrp="1"/>
          </p:cNvSpPr>
          <p:nvPr>
            <p:ph type="dt" sz="half" idx="10"/>
          </p:nvPr>
        </p:nvSpPr>
        <p:spPr/>
        <p:txBody>
          <a:bodyPr/>
          <a:lstStyle/>
          <a:p>
            <a:fld id="{E5A7CC51-3ADC-4B96-960D-C7D7531B18AF}" type="datetimeFigureOut">
              <a:rPr lang="en-US" smtClean="0"/>
              <a:t>8/4/2026</a:t>
            </a:fld>
            <a:endParaRPr lang="en-US"/>
          </a:p>
        </p:txBody>
      </p:sp>
      <p:sp>
        <p:nvSpPr>
          <p:cNvPr id="4" name="ตัวแทนท้ายกระดาษ 3"/>
          <p:cNvSpPr>
            <a:spLocks noGrp="1"/>
          </p:cNvSpPr>
          <p:nvPr>
            <p:ph type="ftr" sz="quarter" idx="11"/>
          </p:nvPr>
        </p:nvSpPr>
        <p:spPr/>
        <p:txBody>
          <a:bodyPr/>
          <a:lstStyle/>
          <a:p>
            <a:endParaRPr lang="en-US"/>
          </a:p>
        </p:txBody>
      </p:sp>
      <p:sp>
        <p:nvSpPr>
          <p:cNvPr id="5" name="ตัวแทนหมายเลขสไลด์ 4"/>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2950638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วันที่ 1"/>
          <p:cNvSpPr>
            <a:spLocks noGrp="1"/>
          </p:cNvSpPr>
          <p:nvPr>
            <p:ph type="dt" sz="half" idx="10"/>
          </p:nvPr>
        </p:nvSpPr>
        <p:spPr/>
        <p:txBody>
          <a:bodyPr/>
          <a:lstStyle/>
          <a:p>
            <a:fld id="{E5A7CC51-3ADC-4B96-960D-C7D7531B18AF}" type="datetimeFigureOut">
              <a:rPr lang="en-US" smtClean="0"/>
              <a:t>8/4/2026</a:t>
            </a:fld>
            <a:endParaRPr lang="en-US"/>
          </a:p>
        </p:txBody>
      </p:sp>
      <p:sp>
        <p:nvSpPr>
          <p:cNvPr id="3" name="ตัวแทนท้ายกระดาษ 2"/>
          <p:cNvSpPr>
            <a:spLocks noGrp="1"/>
          </p:cNvSpPr>
          <p:nvPr>
            <p:ph type="ftr" sz="quarter" idx="11"/>
          </p:nvPr>
        </p:nvSpPr>
        <p:spPr/>
        <p:txBody>
          <a:bodyPr/>
          <a:lstStyle/>
          <a:p>
            <a:endParaRPr lang="en-US"/>
          </a:p>
        </p:txBody>
      </p:sp>
      <p:sp>
        <p:nvSpPr>
          <p:cNvPr id="4" name="ตัวแทนหมายเลขสไลด์ 3"/>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38760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839788" y="457200"/>
            <a:ext cx="3932237" cy="1600200"/>
          </a:xfrm>
        </p:spPr>
        <p:txBody>
          <a:bodyPr anchor="b"/>
          <a:lstStyle>
            <a:lvl1pPr>
              <a:defRPr sz="3200"/>
            </a:lvl1pPr>
          </a:lstStyle>
          <a:p>
            <a:r>
              <a:rPr lang="th-TH" smtClean="0"/>
              <a:t>คลิกเพื่อแก้ไขสไตล์ชื่อเรื่องต้นแบบ</a:t>
            </a:r>
            <a:endParaRPr lang="en-US"/>
          </a:p>
        </p:txBody>
      </p:sp>
      <p:sp>
        <p:nvSpPr>
          <p:cNvPr id="3" name="ตัวแทนเนื้อหา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ข้อความ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smtClean="0"/>
              <a:t>คลิกเพื่อแก้ไขสไตล์ของข้อความต้นแบบ</a:t>
            </a:r>
          </a:p>
        </p:txBody>
      </p:sp>
      <p:sp>
        <p:nvSpPr>
          <p:cNvPr id="5" name="ตัวแทนวันที่ 4"/>
          <p:cNvSpPr>
            <a:spLocks noGrp="1"/>
          </p:cNvSpPr>
          <p:nvPr>
            <p:ph type="dt" sz="half" idx="10"/>
          </p:nvPr>
        </p:nvSpPr>
        <p:spPr/>
        <p:txBody>
          <a:bodyPr/>
          <a:lstStyle/>
          <a:p>
            <a:fld id="{E5A7CC51-3ADC-4B96-960D-C7D7531B18AF}" type="datetimeFigureOut">
              <a:rPr lang="en-US" smtClean="0"/>
              <a:t>8/4/2026</a:t>
            </a:fld>
            <a:endParaRPr lang="en-US"/>
          </a:p>
        </p:txBody>
      </p:sp>
      <p:sp>
        <p:nvSpPr>
          <p:cNvPr id="6" name="ตัวแทนท้ายกระดาษ 5"/>
          <p:cNvSpPr>
            <a:spLocks noGrp="1"/>
          </p:cNvSpPr>
          <p:nvPr>
            <p:ph type="ftr" sz="quarter" idx="11"/>
          </p:nvPr>
        </p:nvSpPr>
        <p:spPr/>
        <p:txBody>
          <a:bodyPr/>
          <a:lstStyle/>
          <a:p>
            <a:endParaRPr lang="en-US"/>
          </a:p>
        </p:txBody>
      </p:sp>
      <p:sp>
        <p:nvSpPr>
          <p:cNvPr id="7" name="ตัวแทนหมายเลขสไลด์ 6"/>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376938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839788" y="457200"/>
            <a:ext cx="3932237" cy="1600200"/>
          </a:xfrm>
        </p:spPr>
        <p:txBody>
          <a:bodyPr anchor="b"/>
          <a:lstStyle>
            <a:lvl1pPr>
              <a:defRPr sz="3200"/>
            </a:lvl1pPr>
          </a:lstStyle>
          <a:p>
            <a:r>
              <a:rPr lang="th-TH" smtClean="0"/>
              <a:t>คลิกเพื่อแก้ไขสไตล์ชื่อเรื่องต้นแบบ</a:t>
            </a:r>
            <a:endParaRPr lang="en-US"/>
          </a:p>
        </p:txBody>
      </p:sp>
      <p:sp>
        <p:nvSpPr>
          <p:cNvPr id="3" name="ตัวแทนรูปภาพ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ตัวแทนข้อความ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smtClean="0"/>
              <a:t>คลิกเพื่อแก้ไขสไตล์ของข้อความต้นแบบ</a:t>
            </a:r>
          </a:p>
        </p:txBody>
      </p:sp>
      <p:sp>
        <p:nvSpPr>
          <p:cNvPr id="5" name="ตัวแทนวันที่ 4"/>
          <p:cNvSpPr>
            <a:spLocks noGrp="1"/>
          </p:cNvSpPr>
          <p:nvPr>
            <p:ph type="dt" sz="half" idx="10"/>
          </p:nvPr>
        </p:nvSpPr>
        <p:spPr/>
        <p:txBody>
          <a:bodyPr/>
          <a:lstStyle/>
          <a:p>
            <a:fld id="{E5A7CC51-3ADC-4B96-960D-C7D7531B18AF}" type="datetimeFigureOut">
              <a:rPr lang="en-US" smtClean="0"/>
              <a:t>8/4/2026</a:t>
            </a:fld>
            <a:endParaRPr lang="en-US"/>
          </a:p>
        </p:txBody>
      </p:sp>
      <p:sp>
        <p:nvSpPr>
          <p:cNvPr id="6" name="ตัวแทนท้ายกระดาษ 5"/>
          <p:cNvSpPr>
            <a:spLocks noGrp="1"/>
          </p:cNvSpPr>
          <p:nvPr>
            <p:ph type="ftr" sz="quarter" idx="11"/>
          </p:nvPr>
        </p:nvSpPr>
        <p:spPr/>
        <p:txBody>
          <a:bodyPr/>
          <a:lstStyle/>
          <a:p>
            <a:endParaRPr lang="en-US"/>
          </a:p>
        </p:txBody>
      </p:sp>
      <p:sp>
        <p:nvSpPr>
          <p:cNvPr id="7" name="ตัวแทนหมายเลขสไลด์ 6"/>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895629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th-TH" smtClean="0"/>
              <a:t>คลิกเพื่อแก้ไขสไตล์ชื่อเรื่องต้นแบบ</a:t>
            </a:r>
            <a:endParaRPr lang="en-US"/>
          </a:p>
        </p:txBody>
      </p:sp>
      <p:sp>
        <p:nvSpPr>
          <p:cNvPr id="3" name="ตัวแทนข้อความแนวตั้ง 2"/>
          <p:cNvSpPr>
            <a:spLocks noGrp="1"/>
          </p:cNvSpPr>
          <p:nvPr>
            <p:ph type="body" orient="vert" idx="1"/>
          </p:nvPr>
        </p:nvSpPr>
        <p:spPr/>
        <p:txBody>
          <a:bodyPr vert="eaVert"/>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วันที่ 3"/>
          <p:cNvSpPr>
            <a:spLocks noGrp="1"/>
          </p:cNvSpPr>
          <p:nvPr>
            <p:ph type="dt" sz="half" idx="10"/>
          </p:nvPr>
        </p:nvSpPr>
        <p:spPr/>
        <p:txBody>
          <a:body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11"/>
          </p:nvPr>
        </p:nvSpPr>
        <p:spPr/>
        <p:txBody>
          <a:bodyPr/>
          <a:lstStyle/>
          <a:p>
            <a:endParaRPr lang="en-US"/>
          </a:p>
        </p:txBody>
      </p:sp>
      <p:sp>
        <p:nvSpPr>
          <p:cNvPr id="6" name="ตัวแทนหมายเลขสไลด์ 5"/>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222381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p:cNvSpPr>
            <a:spLocks noGrp="1"/>
          </p:cNvSpPr>
          <p:nvPr>
            <p:ph type="title" orient="vert"/>
          </p:nvPr>
        </p:nvSpPr>
        <p:spPr>
          <a:xfrm>
            <a:off x="8724900" y="365125"/>
            <a:ext cx="2628900" cy="5811838"/>
          </a:xfrm>
        </p:spPr>
        <p:txBody>
          <a:bodyPr vert="eaVert"/>
          <a:lstStyle/>
          <a:p>
            <a:r>
              <a:rPr lang="th-TH" smtClean="0"/>
              <a:t>คลิกเพื่อแก้ไขสไตล์ชื่อเรื่องต้นแบบ</a:t>
            </a:r>
            <a:endParaRPr lang="en-US"/>
          </a:p>
        </p:txBody>
      </p:sp>
      <p:sp>
        <p:nvSpPr>
          <p:cNvPr id="3" name="ตัวแทนข้อความแนวตั้ง 2"/>
          <p:cNvSpPr>
            <a:spLocks noGrp="1"/>
          </p:cNvSpPr>
          <p:nvPr>
            <p:ph type="body" orient="vert" idx="1"/>
          </p:nvPr>
        </p:nvSpPr>
        <p:spPr>
          <a:xfrm>
            <a:off x="838200" y="365125"/>
            <a:ext cx="7734300" cy="5811838"/>
          </a:xfrm>
        </p:spPr>
        <p:txBody>
          <a:bodyPr vert="eaVert"/>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วันที่ 3"/>
          <p:cNvSpPr>
            <a:spLocks noGrp="1"/>
          </p:cNvSpPr>
          <p:nvPr>
            <p:ph type="dt" sz="half" idx="10"/>
          </p:nvPr>
        </p:nvSpPr>
        <p:spPr/>
        <p:txBody>
          <a:body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11"/>
          </p:nvPr>
        </p:nvSpPr>
        <p:spPr/>
        <p:txBody>
          <a:bodyPr/>
          <a:lstStyle/>
          <a:p>
            <a:endParaRPr lang="en-US"/>
          </a:p>
        </p:txBody>
      </p:sp>
      <p:sp>
        <p:nvSpPr>
          <p:cNvPr id="6" name="ตัวแทนหมายเลขสไลด์ 5"/>
          <p:cNvSpPr>
            <a:spLocks noGrp="1"/>
          </p:cNvSpPr>
          <p:nvPr>
            <p:ph type="sldNum" sz="quarter" idx="12"/>
          </p:nvPr>
        </p:nvSpPr>
        <p:spPr/>
        <p:txBody>
          <a:bodyPr/>
          <a:lstStyle/>
          <a:p>
            <a:fld id="{591E8C80-3A0D-473F-B8BE-11F9C0BBDAC7}" type="slidenum">
              <a:rPr lang="en-US" smtClean="0"/>
              <a:t>‹#›</a:t>
            </a:fld>
            <a:endParaRPr lang="en-US"/>
          </a:p>
        </p:txBody>
      </p:sp>
    </p:spTree>
    <p:extLst>
      <p:ext uri="{BB962C8B-B14F-4D97-AF65-F5344CB8AC3E}">
        <p14:creationId xmlns:p14="http://schemas.microsoft.com/office/powerpoint/2010/main" val="23645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ชื่อเรื่อง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h-TH" smtClean="0"/>
              <a:t>คลิกเพื่อแก้ไขสไตล์ชื่อเรื่องต้นแบบ</a:t>
            </a:r>
            <a:endParaRPr lang="en-US"/>
          </a:p>
        </p:txBody>
      </p:sp>
      <p:sp>
        <p:nvSpPr>
          <p:cNvPr id="3" name="ตัวแทนข้อความ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h-TH" smtClean="0"/>
              <a:t>คลิกเพื่อแก้ไขสไตล์ของข้อความต้นแบบ</a:t>
            </a:r>
          </a:p>
          <a:p>
            <a:pPr lvl="1"/>
            <a:r>
              <a:rPr lang="th-TH" smtClean="0"/>
              <a:t>ระดับที่สอง</a:t>
            </a:r>
          </a:p>
          <a:p>
            <a:pPr lvl="2"/>
            <a:r>
              <a:rPr lang="th-TH" smtClean="0"/>
              <a:t>ระดับที่สาม</a:t>
            </a:r>
          </a:p>
          <a:p>
            <a:pPr lvl="3"/>
            <a:r>
              <a:rPr lang="th-TH" smtClean="0"/>
              <a:t>ระดับที่สี่</a:t>
            </a:r>
          </a:p>
          <a:p>
            <a:pPr lvl="4"/>
            <a:r>
              <a:rPr lang="th-TH" smtClean="0"/>
              <a:t>ระดับที่ห้า</a:t>
            </a:r>
            <a:endParaRPr lang="en-US"/>
          </a:p>
        </p:txBody>
      </p:sp>
      <p:sp>
        <p:nvSpPr>
          <p:cNvPr id="4" name="ตัวแทนวันที่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7CC51-3ADC-4B96-960D-C7D7531B18AF}" type="datetimeFigureOut">
              <a:rPr lang="en-US" smtClean="0"/>
              <a:t>8/4/2026</a:t>
            </a:fld>
            <a:endParaRPr lang="en-US"/>
          </a:p>
        </p:txBody>
      </p:sp>
      <p:sp>
        <p:nvSpPr>
          <p:cNvPr id="5" name="ตัวแทนท้ายกระดา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ตัวแทนหมายเลขสไลด์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E8C80-3A0D-473F-B8BE-11F9C0BBDAC7}" type="slidenum">
              <a:rPr lang="en-US" smtClean="0"/>
              <a:t>‹#›</a:t>
            </a:fld>
            <a:endParaRPr lang="en-US"/>
          </a:p>
        </p:txBody>
      </p:sp>
    </p:spTree>
    <p:extLst>
      <p:ext uri="{BB962C8B-B14F-4D97-AF65-F5344CB8AC3E}">
        <p14:creationId xmlns:p14="http://schemas.microsoft.com/office/powerpoint/2010/main" val="2486956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ctrTitle"/>
          </p:nvPr>
        </p:nvSpPr>
        <p:spPr>
          <a:xfrm>
            <a:off x="1524000" y="106363"/>
            <a:ext cx="9144000" cy="2387600"/>
          </a:xfrm>
        </p:spPr>
        <p:txBody>
          <a:bodyPr/>
          <a:lstStyle/>
          <a:p>
            <a:r>
              <a:rPr lang="en-US" b="1" dirty="0" smtClean="0">
                <a:solidFill>
                  <a:schemeClr val="accent1">
                    <a:lumMod val="75000"/>
                  </a:schemeClr>
                </a:solidFill>
              </a:rPr>
              <a:t>CPE3333 Operating Systems</a:t>
            </a:r>
            <a:endParaRPr lang="en-US" b="1" dirty="0">
              <a:solidFill>
                <a:schemeClr val="accent1">
                  <a:lumMod val="75000"/>
                </a:schemeClr>
              </a:solidFill>
            </a:endParaRPr>
          </a:p>
        </p:txBody>
      </p:sp>
      <p:sp>
        <p:nvSpPr>
          <p:cNvPr id="3" name="ชื่อเรื่องรอง 2"/>
          <p:cNvSpPr>
            <a:spLocks noGrp="1"/>
          </p:cNvSpPr>
          <p:nvPr>
            <p:ph type="subTitle" idx="1"/>
          </p:nvPr>
        </p:nvSpPr>
        <p:spPr>
          <a:xfrm>
            <a:off x="1524000" y="3602038"/>
            <a:ext cx="9144000" cy="2620962"/>
          </a:xfrm>
        </p:spPr>
        <p:txBody>
          <a:bodyPr>
            <a:normAutofit/>
          </a:bodyPr>
          <a:lstStyle/>
          <a:p>
            <a:r>
              <a:rPr lang="en-US" sz="3600" b="1" dirty="0" smtClean="0"/>
              <a:t>Dr. </a:t>
            </a:r>
            <a:r>
              <a:rPr lang="en-US" sz="3600" b="1" dirty="0" err="1" smtClean="0"/>
              <a:t>Weerapan</a:t>
            </a:r>
            <a:r>
              <a:rPr lang="en-US" sz="3600" b="1" dirty="0" smtClean="0"/>
              <a:t> SAE-DAN</a:t>
            </a:r>
          </a:p>
          <a:p>
            <a:endParaRPr lang="en-US" b="1" dirty="0" smtClean="0"/>
          </a:p>
          <a:p>
            <a:r>
              <a:rPr lang="en-US" b="1" dirty="0" smtClean="0"/>
              <a:t>Faculty of Engineering </a:t>
            </a:r>
          </a:p>
          <a:p>
            <a:r>
              <a:rPr lang="en-US" b="1" dirty="0" err="1" smtClean="0"/>
              <a:t>Ramkhamhaeng</a:t>
            </a:r>
            <a:r>
              <a:rPr lang="en-US" b="1" dirty="0" smtClean="0"/>
              <a:t> University</a:t>
            </a:r>
          </a:p>
          <a:p>
            <a:r>
              <a:rPr lang="en-US" dirty="0" smtClean="0"/>
              <a:t> </a:t>
            </a:r>
            <a:endParaRPr lang="en-US" dirty="0"/>
          </a:p>
        </p:txBody>
      </p:sp>
    </p:spTree>
    <p:extLst>
      <p:ext uri="{BB962C8B-B14F-4D97-AF65-F5344CB8AC3E}">
        <p14:creationId xmlns:p14="http://schemas.microsoft.com/office/powerpoint/2010/main" val="25246920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Today’s Class</a:t>
            </a:r>
            <a:endParaRPr lang="en-US" b="1" dirty="0"/>
          </a:p>
        </p:txBody>
      </p:sp>
      <p:sp>
        <p:nvSpPr>
          <p:cNvPr id="3" name="ตัวแทนเนื้อหา 2"/>
          <p:cNvSpPr>
            <a:spLocks noGrp="1"/>
          </p:cNvSpPr>
          <p:nvPr>
            <p:ph idx="1"/>
          </p:nvPr>
        </p:nvSpPr>
        <p:spPr/>
        <p:txBody>
          <a:bodyPr/>
          <a:lstStyle/>
          <a:p>
            <a:r>
              <a:rPr lang="en-US" dirty="0" smtClean="0"/>
              <a:t>Organization Meeting</a:t>
            </a:r>
          </a:p>
          <a:p>
            <a:pPr lvl="1"/>
            <a:r>
              <a:rPr lang="en-US" dirty="0" smtClean="0"/>
              <a:t>Course organization &amp; outline</a:t>
            </a:r>
          </a:p>
          <a:p>
            <a:pPr lvl="1"/>
            <a:r>
              <a:rPr lang="en-US" dirty="0" smtClean="0"/>
              <a:t>Policies</a:t>
            </a:r>
          </a:p>
          <a:p>
            <a:pPr lvl="1"/>
            <a:r>
              <a:rPr lang="en-US" dirty="0" smtClean="0"/>
              <a:t>Prerequisites &amp; course sign-up </a:t>
            </a:r>
          </a:p>
          <a:p>
            <a:r>
              <a:rPr lang="en-US" dirty="0" smtClean="0"/>
              <a:t>Intro to Operating Systems</a:t>
            </a:r>
            <a:endParaRPr lang="en-US" dirty="0"/>
          </a:p>
        </p:txBody>
      </p:sp>
    </p:spTree>
    <p:extLst>
      <p:ext uri="{BB962C8B-B14F-4D97-AF65-F5344CB8AC3E}">
        <p14:creationId xmlns:p14="http://schemas.microsoft.com/office/powerpoint/2010/main" val="38924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Organization Information</a:t>
            </a:r>
            <a:endParaRPr lang="en-US" b="1" dirty="0"/>
          </a:p>
        </p:txBody>
      </p:sp>
      <p:sp>
        <p:nvSpPr>
          <p:cNvPr id="3" name="ตัวแทนเนื้อหา 2"/>
          <p:cNvSpPr>
            <a:spLocks noGrp="1"/>
          </p:cNvSpPr>
          <p:nvPr>
            <p:ph idx="1"/>
          </p:nvPr>
        </p:nvSpPr>
        <p:spPr/>
        <p:txBody>
          <a:bodyPr/>
          <a:lstStyle/>
          <a:p>
            <a:r>
              <a:rPr lang="en-US" dirty="0" smtClean="0"/>
              <a:t>Contact info</a:t>
            </a:r>
          </a:p>
          <a:p>
            <a:pPr lvl="1"/>
            <a:r>
              <a:rPr lang="en-US" dirty="0" smtClean="0"/>
              <a:t>Weerapan.s@rumail.ru.ac.th</a:t>
            </a:r>
          </a:p>
          <a:p>
            <a:pPr marL="457200" lvl="1" indent="0">
              <a:buNone/>
            </a:pPr>
            <a:endParaRPr lang="en-US" dirty="0" smtClean="0"/>
          </a:p>
          <a:p>
            <a:r>
              <a:rPr lang="en-US" dirty="0" smtClean="0"/>
              <a:t>Discussion section</a:t>
            </a:r>
          </a:p>
          <a:p>
            <a:pPr lvl="1"/>
            <a:r>
              <a:rPr lang="en-US" dirty="0" smtClean="0"/>
              <a:t>18.00 – 21.00 PM, LTB316</a:t>
            </a:r>
            <a:endParaRPr lang="en-US" dirty="0"/>
          </a:p>
        </p:txBody>
      </p:sp>
    </p:spTree>
    <p:extLst>
      <p:ext uri="{BB962C8B-B14F-4D97-AF65-F5344CB8AC3E}">
        <p14:creationId xmlns:p14="http://schemas.microsoft.com/office/powerpoint/2010/main" val="176252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Prerequisites and Syllabus</a:t>
            </a:r>
            <a:endParaRPr lang="en-US" b="1" dirty="0"/>
          </a:p>
        </p:txBody>
      </p:sp>
      <p:sp>
        <p:nvSpPr>
          <p:cNvPr id="3" name="ตัวแทนเนื้อหา 2"/>
          <p:cNvSpPr>
            <a:spLocks noGrp="1"/>
          </p:cNvSpPr>
          <p:nvPr>
            <p:ph idx="1"/>
          </p:nvPr>
        </p:nvSpPr>
        <p:spPr/>
        <p:txBody>
          <a:bodyPr>
            <a:normAutofit lnSpcReduction="10000"/>
          </a:bodyPr>
          <a:lstStyle/>
          <a:p>
            <a:r>
              <a:rPr lang="en-US" b="1" dirty="0" smtClean="0"/>
              <a:t>CPE2214</a:t>
            </a:r>
            <a:r>
              <a:rPr lang="en-US" dirty="0" smtClean="0"/>
              <a:t>: Data Structure and Algorithm</a:t>
            </a:r>
          </a:p>
          <a:p>
            <a:r>
              <a:rPr lang="en-US" b="1" dirty="0" smtClean="0"/>
              <a:t>CPE2311</a:t>
            </a:r>
            <a:r>
              <a:rPr lang="en-US" dirty="0" smtClean="0"/>
              <a:t>:</a:t>
            </a:r>
            <a:r>
              <a:rPr lang="th-TH" dirty="0" smtClean="0"/>
              <a:t> </a:t>
            </a:r>
            <a:r>
              <a:rPr lang="en-US" dirty="0" smtClean="0"/>
              <a:t>Discrete Mathematics</a:t>
            </a:r>
          </a:p>
          <a:p>
            <a:r>
              <a:rPr lang="en-US" b="1" dirty="0" smtClean="0"/>
              <a:t>Textbook</a:t>
            </a:r>
            <a:r>
              <a:rPr lang="en-US" dirty="0" smtClean="0"/>
              <a:t>: Operating System Concepts (</a:t>
            </a:r>
            <a:r>
              <a:rPr lang="en-US" dirty="0" err="1" smtClean="0"/>
              <a:t>Silberschatz</a:t>
            </a:r>
            <a:r>
              <a:rPr lang="en-US" dirty="0" smtClean="0"/>
              <a:t>, Galvin, Gagne) 8</a:t>
            </a:r>
            <a:r>
              <a:rPr lang="en-US" baseline="30000" dirty="0" smtClean="0"/>
              <a:t>th</a:t>
            </a:r>
            <a:r>
              <a:rPr lang="en-US" dirty="0" smtClean="0"/>
              <a:t> or 9</a:t>
            </a:r>
            <a:r>
              <a:rPr lang="en-US" baseline="30000" dirty="0" smtClean="0"/>
              <a:t>th</a:t>
            </a:r>
            <a:r>
              <a:rPr lang="en-US" dirty="0" smtClean="0"/>
              <a:t> ed.</a:t>
            </a:r>
          </a:p>
          <a:p>
            <a:r>
              <a:rPr lang="en-US" dirty="0" smtClean="0"/>
              <a:t>Course requirements </a:t>
            </a:r>
          </a:p>
          <a:p>
            <a:pPr lvl="1"/>
            <a:r>
              <a:rPr lang="en-US" dirty="0" smtClean="0"/>
              <a:t>4-6 written homework (15%)</a:t>
            </a:r>
          </a:p>
          <a:p>
            <a:pPr lvl="1"/>
            <a:r>
              <a:rPr lang="en-US" dirty="0" smtClean="0"/>
              <a:t>Class participation </a:t>
            </a:r>
            <a:r>
              <a:rPr lang="en-US" dirty="0"/>
              <a:t> </a:t>
            </a:r>
            <a:r>
              <a:rPr lang="en-US" dirty="0" smtClean="0"/>
              <a:t>&amp; in-class  exercises (5%)</a:t>
            </a:r>
          </a:p>
          <a:p>
            <a:pPr lvl="1"/>
            <a:r>
              <a:rPr lang="en-US" dirty="0" smtClean="0"/>
              <a:t>3-4 programming projects (40%)</a:t>
            </a:r>
          </a:p>
          <a:p>
            <a:pPr lvl="1"/>
            <a:r>
              <a:rPr lang="en-US" dirty="0" smtClean="0"/>
              <a:t>3 exams (40%) – two in-class midterms and a final</a:t>
            </a:r>
          </a:p>
          <a:p>
            <a:pPr marL="457200" lvl="1" indent="0">
              <a:buNone/>
            </a:pPr>
            <a:endParaRPr lang="en-US" dirty="0"/>
          </a:p>
          <a:p>
            <a:pPr marL="457200" lvl="1" indent="0">
              <a:buNone/>
            </a:pPr>
            <a:r>
              <a:rPr lang="en-US" dirty="0" smtClean="0"/>
              <a:t>Strict late policies and policies on cheating  </a:t>
            </a:r>
            <a:endParaRPr lang="en-US" dirty="0"/>
          </a:p>
        </p:txBody>
      </p:sp>
    </p:spTree>
    <p:extLst>
      <p:ext uri="{BB962C8B-B14F-4D97-AF65-F5344CB8AC3E}">
        <p14:creationId xmlns:p14="http://schemas.microsoft.com/office/powerpoint/2010/main" val="190005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Course Resources</a:t>
            </a:r>
            <a:endParaRPr lang="en-US" b="1" dirty="0"/>
          </a:p>
        </p:txBody>
      </p:sp>
      <p:sp>
        <p:nvSpPr>
          <p:cNvPr id="3" name="ตัวแทนเนื้อหา 2"/>
          <p:cNvSpPr>
            <a:spLocks noGrp="1"/>
          </p:cNvSpPr>
          <p:nvPr>
            <p:ph idx="1"/>
          </p:nvPr>
        </p:nvSpPr>
        <p:spPr/>
        <p:txBody>
          <a:bodyPr/>
          <a:lstStyle/>
          <a:p>
            <a:r>
              <a:rPr lang="en-US" dirty="0" smtClean="0"/>
              <a:t>Accounts in the Lab:30+ Linux-based machines</a:t>
            </a:r>
            <a:endParaRPr lang="th-TH" dirty="0" smtClean="0"/>
          </a:p>
          <a:p>
            <a:pPr marL="0" indent="0">
              <a:buNone/>
            </a:pPr>
            <a:endParaRPr lang="en-US" dirty="0" smtClean="0"/>
          </a:p>
          <a:p>
            <a:r>
              <a:rPr lang="en-US" dirty="0" smtClean="0"/>
              <a:t>Discussion section to help you with Lab assignments and course concepts </a:t>
            </a:r>
            <a:endParaRPr lang="en-US" dirty="0"/>
          </a:p>
        </p:txBody>
      </p:sp>
    </p:spTree>
    <p:extLst>
      <p:ext uri="{BB962C8B-B14F-4D97-AF65-F5344CB8AC3E}">
        <p14:creationId xmlns:p14="http://schemas.microsoft.com/office/powerpoint/2010/main" val="2023304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Course</a:t>
            </a:r>
            <a:r>
              <a:rPr lang="th-TH" b="1" dirty="0" smtClean="0"/>
              <a:t> </a:t>
            </a:r>
            <a:r>
              <a:rPr lang="en-US" b="1" dirty="0" smtClean="0"/>
              <a:t>Requirements</a:t>
            </a:r>
            <a:endParaRPr lang="en-US" b="1" dirty="0"/>
          </a:p>
        </p:txBody>
      </p:sp>
      <p:sp>
        <p:nvSpPr>
          <p:cNvPr id="3" name="ตัวแทนเนื้อหา 2"/>
          <p:cNvSpPr>
            <a:spLocks noGrp="1"/>
          </p:cNvSpPr>
          <p:nvPr>
            <p:ph idx="1"/>
          </p:nvPr>
        </p:nvSpPr>
        <p:spPr/>
        <p:txBody>
          <a:bodyPr/>
          <a:lstStyle/>
          <a:p>
            <a:r>
              <a:rPr lang="en-US" dirty="0" smtClean="0"/>
              <a:t>Note:</a:t>
            </a:r>
            <a:r>
              <a:rPr lang="th-TH" dirty="0" smtClean="0"/>
              <a:t> </a:t>
            </a:r>
            <a:r>
              <a:rPr lang="en-US" dirty="0" smtClean="0"/>
              <a:t>Percentages</a:t>
            </a:r>
            <a:r>
              <a:rPr lang="th-TH" dirty="0" smtClean="0"/>
              <a:t> </a:t>
            </a:r>
            <a:r>
              <a:rPr lang="en-US" dirty="0" smtClean="0"/>
              <a:t>are</a:t>
            </a:r>
            <a:r>
              <a:rPr lang="th-TH" dirty="0" smtClean="0"/>
              <a:t> </a:t>
            </a:r>
            <a:r>
              <a:rPr lang="en-US" dirty="0" smtClean="0"/>
              <a:t>subject</a:t>
            </a:r>
            <a:r>
              <a:rPr lang="th-TH" dirty="0" smtClean="0"/>
              <a:t> </a:t>
            </a:r>
            <a:r>
              <a:rPr lang="en-US" dirty="0" smtClean="0"/>
              <a:t>to</a:t>
            </a:r>
            <a:r>
              <a:rPr lang="th-TH" dirty="0" smtClean="0"/>
              <a:t> </a:t>
            </a:r>
            <a:r>
              <a:rPr lang="en-US" dirty="0" smtClean="0"/>
              <a:t>revision.</a:t>
            </a:r>
          </a:p>
          <a:p>
            <a:r>
              <a:rPr lang="en-US" dirty="0" smtClean="0"/>
              <a:t>Programming projects: 40%</a:t>
            </a:r>
          </a:p>
          <a:p>
            <a:pPr lvl="1"/>
            <a:r>
              <a:rPr lang="en-US" dirty="0" smtClean="0"/>
              <a:t>Strict late policy</a:t>
            </a:r>
            <a:r>
              <a:rPr lang="en-US" dirty="0"/>
              <a:t>!</a:t>
            </a:r>
            <a:endParaRPr lang="en-US" dirty="0" smtClean="0"/>
          </a:p>
          <a:p>
            <a:r>
              <a:rPr lang="en-US" dirty="0" smtClean="0"/>
              <a:t>In-class exams: 40%</a:t>
            </a:r>
          </a:p>
          <a:p>
            <a:r>
              <a:rPr lang="en-US" dirty="0" smtClean="0"/>
              <a:t>Homework: 15%</a:t>
            </a:r>
          </a:p>
          <a:p>
            <a:r>
              <a:rPr lang="en-US" dirty="0" smtClean="0"/>
              <a:t>Class participation and discussions: 5</a:t>
            </a:r>
            <a:r>
              <a:rPr lang="en-US" dirty="0"/>
              <a:t>%</a:t>
            </a:r>
          </a:p>
        </p:txBody>
      </p:sp>
    </p:spTree>
    <p:extLst>
      <p:ext uri="{BB962C8B-B14F-4D97-AF65-F5344CB8AC3E}">
        <p14:creationId xmlns:p14="http://schemas.microsoft.com/office/powerpoint/2010/main" val="2711937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Labs</a:t>
            </a:r>
            <a:endParaRPr lang="en-US" b="1" dirty="0"/>
          </a:p>
        </p:txBody>
      </p:sp>
      <p:sp>
        <p:nvSpPr>
          <p:cNvPr id="3" name="ตัวแทนเนื้อหา 2"/>
          <p:cNvSpPr>
            <a:spLocks noGrp="1"/>
          </p:cNvSpPr>
          <p:nvPr>
            <p:ph idx="1"/>
          </p:nvPr>
        </p:nvSpPr>
        <p:spPr/>
        <p:txBody>
          <a:bodyPr/>
          <a:lstStyle/>
          <a:p>
            <a:r>
              <a:rPr lang="en-US" dirty="0" smtClean="0"/>
              <a:t>3-4 Projects</a:t>
            </a:r>
          </a:p>
          <a:p>
            <a:pPr lvl="1"/>
            <a:r>
              <a:rPr lang="en-US" dirty="0" smtClean="0"/>
              <a:t>Focus on topics covered in the class</a:t>
            </a:r>
          </a:p>
          <a:p>
            <a:r>
              <a:rPr lang="en-US" dirty="0" smtClean="0"/>
              <a:t>Projects will use primarily C++</a:t>
            </a:r>
          </a:p>
          <a:p>
            <a:r>
              <a:rPr lang="en-US" dirty="0" smtClean="0"/>
              <a:t>May work in groups of 2</a:t>
            </a:r>
          </a:p>
          <a:p>
            <a:r>
              <a:rPr lang="en-US" dirty="0" smtClean="0"/>
              <a:t>Computer Lab accounts or use your own machine</a:t>
            </a:r>
          </a:p>
          <a:p>
            <a:r>
              <a:rPr lang="en-US" dirty="0" smtClean="0"/>
              <a:t>3 late days </a:t>
            </a:r>
            <a:endParaRPr lang="en-US" dirty="0"/>
          </a:p>
        </p:txBody>
      </p:sp>
    </p:spTree>
    <p:extLst>
      <p:ext uri="{BB962C8B-B14F-4D97-AF65-F5344CB8AC3E}">
        <p14:creationId xmlns:p14="http://schemas.microsoft.com/office/powerpoint/2010/main" val="1455198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Cell Phone and Laptop Policy</a:t>
            </a:r>
            <a:endParaRPr lang="en-US" b="1" dirty="0"/>
          </a:p>
        </p:txBody>
      </p:sp>
      <p:sp>
        <p:nvSpPr>
          <p:cNvPr id="3" name="ตัวแทนเนื้อหา 2"/>
          <p:cNvSpPr>
            <a:spLocks noGrp="1"/>
          </p:cNvSpPr>
          <p:nvPr>
            <p:ph idx="1"/>
          </p:nvPr>
        </p:nvSpPr>
        <p:spPr/>
        <p:txBody>
          <a:bodyPr/>
          <a:lstStyle/>
          <a:p>
            <a:r>
              <a:rPr lang="en-US" dirty="0" smtClean="0"/>
              <a:t>Class use policy: Don’t!</a:t>
            </a:r>
          </a:p>
          <a:p>
            <a:r>
              <a:rPr lang="en-US" dirty="0" smtClean="0"/>
              <a:t>Cell phones should be off or silenced</a:t>
            </a:r>
          </a:p>
          <a:p>
            <a:r>
              <a:rPr lang="en-US" dirty="0" smtClean="0"/>
              <a:t>Texting is strictly prohibited in class</a:t>
            </a:r>
          </a:p>
          <a:p>
            <a:r>
              <a:rPr lang="en-US" dirty="0" smtClean="0"/>
              <a:t>Laptops and tablets may NOT be used in class: No email, browsing, Facebook, Twitter during class lectures</a:t>
            </a:r>
          </a:p>
          <a:p>
            <a:r>
              <a:rPr lang="en-US" dirty="0" smtClean="0"/>
              <a:t>Violations may result in penalties  </a:t>
            </a:r>
            <a:endParaRPr lang="en-US" dirty="0"/>
          </a:p>
        </p:txBody>
      </p:sp>
    </p:spTree>
    <p:extLst>
      <p:ext uri="{BB962C8B-B14F-4D97-AF65-F5344CB8AC3E}">
        <p14:creationId xmlns:p14="http://schemas.microsoft.com/office/powerpoint/2010/main" val="1247282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Course Outline &amp; Topics</a:t>
            </a:r>
            <a:endParaRPr lang="en-US" b="1" dirty="0"/>
          </a:p>
        </p:txBody>
      </p:sp>
      <p:sp>
        <p:nvSpPr>
          <p:cNvPr id="3" name="ตัวแทนเนื้อหา 2"/>
          <p:cNvSpPr>
            <a:spLocks noGrp="1"/>
          </p:cNvSpPr>
          <p:nvPr>
            <p:ph idx="1"/>
          </p:nvPr>
        </p:nvSpPr>
        <p:spPr/>
        <p:txBody>
          <a:bodyPr/>
          <a:lstStyle/>
          <a:p>
            <a:r>
              <a:rPr lang="en-US" dirty="0" smtClean="0"/>
              <a:t>Processes and Threads</a:t>
            </a:r>
          </a:p>
          <a:p>
            <a:pPr marL="0" indent="0">
              <a:buNone/>
            </a:pPr>
            <a:endParaRPr lang="en-US" dirty="0" smtClean="0"/>
          </a:p>
          <a:p>
            <a:r>
              <a:rPr lang="en-US" dirty="0" smtClean="0"/>
              <a:t>Memory Management</a:t>
            </a:r>
          </a:p>
          <a:p>
            <a:pPr marL="0" indent="0">
              <a:buNone/>
            </a:pPr>
            <a:endParaRPr lang="en-US" dirty="0" smtClean="0"/>
          </a:p>
          <a:p>
            <a:r>
              <a:rPr lang="en-US" dirty="0" smtClean="0"/>
              <a:t>Storage and File Systems</a:t>
            </a:r>
          </a:p>
          <a:p>
            <a:pPr marL="0" indent="0">
              <a:buNone/>
            </a:pPr>
            <a:endParaRPr lang="en-US" dirty="0" smtClean="0"/>
          </a:p>
          <a:p>
            <a:r>
              <a:rPr lang="en-US" dirty="0" smtClean="0"/>
              <a:t>Distributed Systems </a:t>
            </a:r>
            <a:endParaRPr lang="en-US" dirty="0"/>
          </a:p>
        </p:txBody>
      </p:sp>
    </p:spTree>
    <p:extLst>
      <p:ext uri="{BB962C8B-B14F-4D97-AF65-F5344CB8AC3E}">
        <p14:creationId xmlns:p14="http://schemas.microsoft.com/office/powerpoint/2010/main" val="3247320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What’s An Operating System</a:t>
            </a:r>
            <a:r>
              <a:rPr lang="en-US" b="1" dirty="0"/>
              <a:t>?</a:t>
            </a:r>
          </a:p>
        </p:txBody>
      </p:sp>
      <p:sp>
        <p:nvSpPr>
          <p:cNvPr id="3" name="ตัวแทนเนื้อหา 2"/>
          <p:cNvSpPr>
            <a:spLocks noGrp="1"/>
          </p:cNvSpPr>
          <p:nvPr>
            <p:ph idx="1"/>
          </p:nvPr>
        </p:nvSpPr>
        <p:spPr/>
        <p:txBody>
          <a:bodyPr/>
          <a:lstStyle/>
          <a:p>
            <a:r>
              <a:rPr lang="en-US" dirty="0" smtClean="0"/>
              <a:t>Definition has changed over years</a:t>
            </a:r>
          </a:p>
          <a:p>
            <a:pPr lvl="1"/>
            <a:r>
              <a:rPr lang="en-US" dirty="0" smtClean="0"/>
              <a:t>Originally, very bare bones</a:t>
            </a:r>
          </a:p>
          <a:p>
            <a:pPr lvl="1"/>
            <a:r>
              <a:rPr lang="en-US" dirty="0" smtClean="0"/>
              <a:t>Now, includes more and more </a:t>
            </a:r>
          </a:p>
          <a:p>
            <a:r>
              <a:rPr lang="en-US" dirty="0" smtClean="0"/>
              <a:t>Operating System (OS)</a:t>
            </a:r>
          </a:p>
          <a:p>
            <a:pPr lvl="1"/>
            <a:r>
              <a:rPr lang="en-US" dirty="0" smtClean="0"/>
              <a:t>Interface between the user and the architecture</a:t>
            </a:r>
          </a:p>
          <a:p>
            <a:pPr lvl="1"/>
            <a:r>
              <a:rPr lang="en-US" dirty="0" smtClean="0"/>
              <a:t>Implements a virtual machine that is hopefully</a:t>
            </a:r>
            <a:r>
              <a:rPr lang="en-US" dirty="0"/>
              <a:t> </a:t>
            </a:r>
            <a:r>
              <a:rPr lang="en-US" dirty="0" smtClean="0"/>
              <a:t>easier to program than raw</a:t>
            </a:r>
            <a:r>
              <a:rPr lang="en-US" dirty="0"/>
              <a:t> </a:t>
            </a:r>
            <a:r>
              <a:rPr lang="en-US" dirty="0" smtClean="0"/>
              <a:t>hardware</a:t>
            </a:r>
          </a:p>
        </p:txBody>
      </p:sp>
    </p:spTree>
    <p:extLst>
      <p:ext uri="{BB962C8B-B14F-4D97-AF65-F5344CB8AC3E}">
        <p14:creationId xmlns:p14="http://schemas.microsoft.com/office/powerpoint/2010/main" val="2827868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What’s</a:t>
            </a:r>
            <a:r>
              <a:rPr lang="th-TH" b="1" dirty="0" smtClean="0"/>
              <a:t> </a:t>
            </a:r>
            <a:r>
              <a:rPr lang="en-US" b="1" dirty="0" smtClean="0"/>
              <a:t>an</a:t>
            </a:r>
            <a:r>
              <a:rPr lang="th-TH" b="1" dirty="0" smtClean="0"/>
              <a:t> </a:t>
            </a:r>
            <a:r>
              <a:rPr lang="en-US" b="1" dirty="0" smtClean="0"/>
              <a:t>OS?</a:t>
            </a:r>
            <a:r>
              <a:rPr lang="th-TH" b="1" dirty="0" smtClean="0"/>
              <a:t> </a:t>
            </a:r>
            <a:r>
              <a:rPr lang="en-US" b="1" dirty="0" smtClean="0"/>
              <a:t>Bill</a:t>
            </a:r>
            <a:r>
              <a:rPr lang="th-TH" b="1" dirty="0" smtClean="0"/>
              <a:t> </a:t>
            </a:r>
            <a:r>
              <a:rPr lang="en-US" b="1" dirty="0" smtClean="0"/>
              <a:t>Gates</a:t>
            </a:r>
            <a:r>
              <a:rPr lang="th-TH" b="1" dirty="0" smtClean="0"/>
              <a:t> </a:t>
            </a:r>
            <a:r>
              <a:rPr lang="en-US" b="1" dirty="0" smtClean="0"/>
              <a:t>says</a:t>
            </a:r>
            <a:r>
              <a:rPr lang="en-US" b="1" dirty="0"/>
              <a:t>…</a:t>
            </a:r>
          </a:p>
        </p:txBody>
      </p:sp>
      <p:pic>
        <p:nvPicPr>
          <p:cNvPr id="2050" name="Picture 2" descr="Bill Gates has just turned 60 – here is his life in pictures | The  Gentleman's Journal | The latest in style and grooming, food and drink,  business, lifestyle, culture, sports, restaura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19237"/>
            <a:ext cx="4667250" cy="46672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ดาวน์โหลด Internet Explorer ฟรี - เวอร์ชันล่าสุดปี 2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300" y="1346374"/>
            <a:ext cx="2844800" cy="1605935"/>
          </a:xfrm>
          <a:prstGeom prst="rect">
            <a:avLst/>
          </a:prstGeom>
          <a:noFill/>
          <a:extLst>
            <a:ext uri="{909E8E84-426E-40DD-AFC4-6F175D3DCCD1}">
              <a14:hiddenFill xmlns:a14="http://schemas.microsoft.com/office/drawing/2010/main">
                <a:solidFill>
                  <a:srgbClr val="FFFFFF"/>
                </a:solidFill>
              </a14:hiddenFill>
            </a:ext>
          </a:extLst>
        </p:spPr>
      </p:pic>
      <p:pic>
        <p:nvPicPr>
          <p:cNvPr id="6" name="รูปภาพ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000" y="2952309"/>
            <a:ext cx="5575300" cy="3905691"/>
          </a:xfrm>
          <a:prstGeom prst="rect">
            <a:avLst/>
          </a:prstGeom>
        </p:spPr>
      </p:pic>
      <p:sp>
        <p:nvSpPr>
          <p:cNvPr id="7" name="กล่องข้อความ 6"/>
          <p:cNvSpPr txBox="1"/>
          <p:nvPr/>
        </p:nvSpPr>
        <p:spPr>
          <a:xfrm>
            <a:off x="6337300" y="3060700"/>
            <a:ext cx="3378200" cy="646331"/>
          </a:xfrm>
          <a:prstGeom prst="rect">
            <a:avLst/>
          </a:prstGeom>
          <a:noFill/>
        </p:spPr>
        <p:txBody>
          <a:bodyPr wrap="square" rtlCol="0">
            <a:spAutoFit/>
          </a:bodyPr>
          <a:lstStyle/>
          <a:p>
            <a:r>
              <a:rPr lang="en-US" dirty="0" smtClean="0"/>
              <a:t>“even </a:t>
            </a:r>
          </a:p>
          <a:p>
            <a:r>
              <a:rPr lang="en-US" dirty="0" smtClean="0"/>
              <a:t>      a ham sandwich” (Steve B.)</a:t>
            </a:r>
            <a:endParaRPr lang="en-US" dirty="0"/>
          </a:p>
        </p:txBody>
      </p:sp>
    </p:spTree>
    <p:extLst>
      <p:ext uri="{BB962C8B-B14F-4D97-AF65-F5344CB8AC3E}">
        <p14:creationId xmlns:p14="http://schemas.microsoft.com/office/powerpoint/2010/main" val="1928138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OS:</a:t>
            </a:r>
            <a:r>
              <a:rPr lang="th-TH" b="1" dirty="0" smtClean="0"/>
              <a:t> </a:t>
            </a:r>
            <a:r>
              <a:rPr lang="en-US" b="1" dirty="0" smtClean="0"/>
              <a:t>Traditional View</a:t>
            </a:r>
            <a:endParaRPr lang="en-US" b="1" dirty="0"/>
          </a:p>
        </p:txBody>
      </p:sp>
      <p:sp>
        <p:nvSpPr>
          <p:cNvPr id="3" name="ตัวแทนเนื้อหา 2"/>
          <p:cNvSpPr>
            <a:spLocks noGrp="1"/>
          </p:cNvSpPr>
          <p:nvPr>
            <p:ph idx="1"/>
          </p:nvPr>
        </p:nvSpPr>
        <p:spPr>
          <a:xfrm>
            <a:off x="749300" y="1738313"/>
            <a:ext cx="6515100" cy="4351338"/>
          </a:xfrm>
        </p:spPr>
        <p:txBody>
          <a:bodyPr/>
          <a:lstStyle/>
          <a:p>
            <a:r>
              <a:rPr lang="en-US" dirty="0" smtClean="0"/>
              <a:t>Interface between user and architecture</a:t>
            </a:r>
          </a:p>
          <a:p>
            <a:pPr lvl="1"/>
            <a:r>
              <a:rPr lang="en-US" dirty="0" smtClean="0"/>
              <a:t>Hides architectural details </a:t>
            </a:r>
          </a:p>
          <a:p>
            <a:r>
              <a:rPr lang="en-US" dirty="0" smtClean="0"/>
              <a:t>Implements virtual machine:</a:t>
            </a:r>
          </a:p>
          <a:p>
            <a:pPr lvl="1"/>
            <a:r>
              <a:rPr lang="en-US" dirty="0" smtClean="0"/>
              <a:t>Easier to program than raw hardware</a:t>
            </a:r>
          </a:p>
          <a:p>
            <a:r>
              <a:rPr lang="en-US" dirty="0" smtClean="0"/>
              <a:t>Illusionist</a:t>
            </a:r>
          </a:p>
          <a:p>
            <a:pPr lvl="1"/>
            <a:r>
              <a:rPr lang="en-US" dirty="0" smtClean="0"/>
              <a:t>Bigger, faster, reliable</a:t>
            </a:r>
          </a:p>
          <a:p>
            <a:r>
              <a:rPr lang="en-US" dirty="0" smtClean="0"/>
              <a:t>Government</a:t>
            </a:r>
          </a:p>
          <a:p>
            <a:pPr lvl="1"/>
            <a:r>
              <a:rPr lang="en-US" dirty="0" smtClean="0"/>
              <a:t>Divides resources</a:t>
            </a:r>
          </a:p>
          <a:p>
            <a:pPr lvl="1"/>
            <a:r>
              <a:rPr lang="en-US" dirty="0"/>
              <a:t>“Taxes</a:t>
            </a:r>
            <a:r>
              <a:rPr lang="en-US" dirty="0" smtClean="0"/>
              <a:t>” = overhead</a:t>
            </a:r>
            <a:endParaRPr lang="en-US" dirty="0"/>
          </a:p>
        </p:txBody>
      </p:sp>
      <p:sp>
        <p:nvSpPr>
          <p:cNvPr id="4" name="สี่เหลี่ยมผืนผ้า 3"/>
          <p:cNvSpPr/>
          <p:nvPr/>
        </p:nvSpPr>
        <p:spPr>
          <a:xfrm>
            <a:off x="7048500" y="1703388"/>
            <a:ext cx="3860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User-Level Application</a:t>
            </a:r>
            <a:endParaRPr lang="en-US" dirty="0">
              <a:solidFill>
                <a:schemeClr val="tx1"/>
              </a:solidFill>
            </a:endParaRPr>
          </a:p>
        </p:txBody>
      </p:sp>
      <p:sp>
        <p:nvSpPr>
          <p:cNvPr id="5" name="สี่เหลี่ยมผืนผ้า 4"/>
          <p:cNvSpPr/>
          <p:nvPr/>
        </p:nvSpPr>
        <p:spPr>
          <a:xfrm>
            <a:off x="7048500" y="3298825"/>
            <a:ext cx="3860800" cy="685800"/>
          </a:xfrm>
          <a:prstGeom prst="rect">
            <a:avLst/>
          </a:prstGeom>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tx1"/>
                </a:solidFill>
              </a:rPr>
              <a:t>Operating System</a:t>
            </a:r>
            <a:endParaRPr lang="en-US" dirty="0">
              <a:solidFill>
                <a:schemeClr val="tx1"/>
              </a:solidFill>
            </a:endParaRPr>
          </a:p>
        </p:txBody>
      </p:sp>
      <p:sp>
        <p:nvSpPr>
          <p:cNvPr id="6" name="สี่เหลี่ยมผืนผ้า 5"/>
          <p:cNvSpPr/>
          <p:nvPr/>
        </p:nvSpPr>
        <p:spPr>
          <a:xfrm>
            <a:off x="7048500" y="4929982"/>
            <a:ext cx="3860800" cy="68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Hardware</a:t>
            </a:r>
            <a:endParaRPr lang="en-US" dirty="0">
              <a:solidFill>
                <a:schemeClr val="tx1"/>
              </a:solidFill>
            </a:endParaRPr>
          </a:p>
        </p:txBody>
      </p:sp>
      <p:cxnSp>
        <p:nvCxnSpPr>
          <p:cNvPr id="8" name="ลูกศรเชื่อมต่อแบบตรง 7"/>
          <p:cNvCxnSpPr>
            <a:stCxn id="4" idx="2"/>
            <a:endCxn id="5" idx="0"/>
          </p:cNvCxnSpPr>
          <p:nvPr/>
        </p:nvCxnSpPr>
        <p:spPr>
          <a:xfrm>
            <a:off x="8978900" y="2389188"/>
            <a:ext cx="0" cy="9096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ลูกศรเชื่อมต่อแบบตรง 8"/>
          <p:cNvCxnSpPr/>
          <p:nvPr/>
        </p:nvCxnSpPr>
        <p:spPr>
          <a:xfrm>
            <a:off x="8978900" y="3984625"/>
            <a:ext cx="0" cy="9096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กล่องข้อความ 9"/>
          <p:cNvSpPr txBox="1"/>
          <p:nvPr/>
        </p:nvSpPr>
        <p:spPr>
          <a:xfrm>
            <a:off x="8978900" y="2638425"/>
            <a:ext cx="2603499" cy="369332"/>
          </a:xfrm>
          <a:prstGeom prst="rect">
            <a:avLst/>
          </a:prstGeom>
          <a:noFill/>
        </p:spPr>
        <p:txBody>
          <a:bodyPr wrap="square" rtlCol="0">
            <a:spAutoFit/>
          </a:bodyPr>
          <a:lstStyle/>
          <a:p>
            <a:r>
              <a:rPr lang="en-US" i="1" dirty="0" smtClean="0"/>
              <a:t>Virtual machine interface</a:t>
            </a:r>
            <a:endParaRPr lang="en-US" i="1" dirty="0"/>
          </a:p>
        </p:txBody>
      </p:sp>
      <p:sp>
        <p:nvSpPr>
          <p:cNvPr id="11" name="กล่องข้อความ 10"/>
          <p:cNvSpPr txBox="1"/>
          <p:nvPr/>
        </p:nvSpPr>
        <p:spPr>
          <a:xfrm>
            <a:off x="8959849" y="4211796"/>
            <a:ext cx="3028951" cy="369332"/>
          </a:xfrm>
          <a:prstGeom prst="rect">
            <a:avLst/>
          </a:prstGeom>
          <a:noFill/>
        </p:spPr>
        <p:txBody>
          <a:bodyPr wrap="square" rtlCol="0">
            <a:spAutoFit/>
          </a:bodyPr>
          <a:lstStyle/>
          <a:p>
            <a:r>
              <a:rPr lang="en-US" i="1" dirty="0" smtClean="0"/>
              <a:t>physical machine interface</a:t>
            </a:r>
            <a:endParaRPr lang="en-US" i="1" dirty="0"/>
          </a:p>
        </p:txBody>
      </p:sp>
    </p:spTree>
    <p:extLst>
      <p:ext uri="{BB962C8B-B14F-4D97-AF65-F5344CB8AC3E}">
        <p14:creationId xmlns:p14="http://schemas.microsoft.com/office/powerpoint/2010/main" val="2131295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New Developments in OS</a:t>
            </a:r>
            <a:endParaRPr lang="en-US" b="1" dirty="0"/>
          </a:p>
        </p:txBody>
      </p:sp>
      <p:sp>
        <p:nvSpPr>
          <p:cNvPr id="3" name="ตัวแทนเนื้อหา 2"/>
          <p:cNvSpPr>
            <a:spLocks noGrp="1"/>
          </p:cNvSpPr>
          <p:nvPr>
            <p:ph idx="1"/>
          </p:nvPr>
        </p:nvSpPr>
        <p:spPr/>
        <p:txBody>
          <a:bodyPr/>
          <a:lstStyle/>
          <a:p>
            <a:r>
              <a:rPr lang="en-US" dirty="0" smtClean="0"/>
              <a:t>Operating systems: active field of research</a:t>
            </a:r>
          </a:p>
          <a:p>
            <a:pPr lvl="1"/>
            <a:r>
              <a:rPr lang="en-US" dirty="0" smtClean="0"/>
              <a:t>Demands on OS’s growing</a:t>
            </a:r>
          </a:p>
          <a:p>
            <a:pPr lvl="1"/>
            <a:r>
              <a:rPr lang="en-US" dirty="0" smtClean="0"/>
              <a:t>New application spaces (Web, Grid, Cloud)</a:t>
            </a:r>
          </a:p>
          <a:p>
            <a:pPr lvl="1"/>
            <a:r>
              <a:rPr lang="en-US" dirty="0" smtClean="0"/>
              <a:t>Rapidly evolving hardware</a:t>
            </a:r>
          </a:p>
          <a:p>
            <a:r>
              <a:rPr lang="en-US" dirty="0" smtClean="0"/>
              <a:t>Advent of open-source operating systems</a:t>
            </a:r>
          </a:p>
          <a:p>
            <a:pPr lvl="1"/>
            <a:r>
              <a:rPr lang="en-US" dirty="0" smtClean="0"/>
              <a:t>Linux etc.</a:t>
            </a:r>
          </a:p>
          <a:p>
            <a:pPr lvl="1"/>
            <a:r>
              <a:rPr lang="en-US" dirty="0" smtClean="0"/>
              <a:t>You can contribute to and develop OS’s!</a:t>
            </a:r>
          </a:p>
          <a:p>
            <a:pPr lvl="1"/>
            <a:r>
              <a:rPr lang="en-US" dirty="0" smtClean="0"/>
              <a:t>Excellent research </a:t>
            </a:r>
            <a:r>
              <a:rPr lang="en-US" dirty="0" err="1" smtClean="0"/>
              <a:t>plaporm</a:t>
            </a:r>
            <a:endParaRPr lang="en-US" dirty="0"/>
          </a:p>
        </p:txBody>
      </p:sp>
    </p:spTree>
    <p:extLst>
      <p:ext uri="{BB962C8B-B14F-4D97-AF65-F5344CB8AC3E}">
        <p14:creationId xmlns:p14="http://schemas.microsoft.com/office/powerpoint/2010/main" val="1710915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Linux Kernel Size</a:t>
            </a:r>
            <a:endParaRPr lang="en-US" b="1" dirty="0"/>
          </a:p>
        </p:txBody>
      </p:sp>
      <p:pic>
        <p:nvPicPr>
          <p:cNvPr id="4" name="รูปภาพ 3"/>
          <p:cNvPicPr>
            <a:picLocks noChangeAspect="1"/>
          </p:cNvPicPr>
          <p:nvPr/>
        </p:nvPicPr>
        <p:blipFill rotWithShape="1">
          <a:blip r:embed="rId2"/>
          <a:srcRect l="38997" t="29909" r="19670" b="21918"/>
          <a:stretch/>
        </p:blipFill>
        <p:spPr>
          <a:xfrm>
            <a:off x="2019300" y="1690688"/>
            <a:ext cx="7594600" cy="4976586"/>
          </a:xfrm>
          <a:prstGeom prst="rect">
            <a:avLst/>
          </a:prstGeom>
        </p:spPr>
      </p:pic>
    </p:spTree>
    <p:extLst>
      <p:ext uri="{BB962C8B-B14F-4D97-AF65-F5344CB8AC3E}">
        <p14:creationId xmlns:p14="http://schemas.microsoft.com/office/powerpoint/2010/main" val="2346637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Operating Sys: Salient Features</a:t>
            </a:r>
            <a:endParaRPr lang="en-US" b="1" dirty="0"/>
          </a:p>
        </p:txBody>
      </p:sp>
      <p:sp>
        <p:nvSpPr>
          <p:cNvPr id="3" name="ตัวแทนเนื้อหา 2"/>
          <p:cNvSpPr>
            <a:spLocks noGrp="1"/>
          </p:cNvSpPr>
          <p:nvPr>
            <p:ph idx="1"/>
          </p:nvPr>
        </p:nvSpPr>
        <p:spPr/>
        <p:txBody>
          <a:bodyPr/>
          <a:lstStyle/>
          <a:p>
            <a:r>
              <a:rPr lang="en-US" b="1" dirty="0"/>
              <a:t>Services</a:t>
            </a:r>
            <a:r>
              <a:rPr lang="en-US" dirty="0"/>
              <a:t>: The OS provides standard services (the interface) which the hardware implements</a:t>
            </a:r>
            <a:r>
              <a:rPr lang="en-US" dirty="0" smtClean="0"/>
              <a:t>.</a:t>
            </a:r>
          </a:p>
          <a:p>
            <a:pPr lvl="1"/>
            <a:r>
              <a:rPr lang="en-US" dirty="0"/>
              <a:t>Examples: the file system, virtual memory, networking, CPU scheduling, and time-sharing</a:t>
            </a:r>
            <a:endParaRPr lang="en-US" dirty="0" smtClean="0"/>
          </a:p>
          <a:p>
            <a:r>
              <a:rPr lang="en-US" b="1" dirty="0"/>
              <a:t>Coordination</a:t>
            </a:r>
            <a:r>
              <a:rPr lang="en-US" dirty="0"/>
              <a:t>: The OS coordinates multiple applications and users to achieve fairness and efficiency (throughput</a:t>
            </a:r>
            <a:r>
              <a:rPr lang="en-US" dirty="0" smtClean="0"/>
              <a:t>).</a:t>
            </a:r>
          </a:p>
          <a:p>
            <a:pPr lvl="1"/>
            <a:r>
              <a:rPr lang="en-US" dirty="0"/>
              <a:t>Examples: concurrency, memory protection, networking, and security</a:t>
            </a:r>
            <a:endParaRPr lang="en-US" dirty="0" smtClean="0"/>
          </a:p>
          <a:p>
            <a:r>
              <a:rPr lang="en-US" b="1" dirty="0"/>
              <a:t>Goal</a:t>
            </a:r>
            <a:r>
              <a:rPr lang="en-US" dirty="0"/>
              <a:t>: Design an OS so that the machine is convenient to use (a software engineering problem) and efficient (a system and engineering problem).</a:t>
            </a:r>
          </a:p>
        </p:txBody>
      </p:sp>
    </p:spTree>
    <p:extLst>
      <p:ext uri="{BB962C8B-B14F-4D97-AF65-F5344CB8AC3E}">
        <p14:creationId xmlns:p14="http://schemas.microsoft.com/office/powerpoint/2010/main" val="4092669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Why Study Operating Systems</a:t>
            </a:r>
            <a:r>
              <a:rPr lang="en-US" b="1" dirty="0"/>
              <a:t>?</a:t>
            </a:r>
          </a:p>
        </p:txBody>
      </p:sp>
      <p:sp>
        <p:nvSpPr>
          <p:cNvPr id="3" name="ตัวแทนเนื้อหา 2"/>
          <p:cNvSpPr>
            <a:spLocks noGrp="1"/>
          </p:cNvSpPr>
          <p:nvPr>
            <p:ph idx="1"/>
          </p:nvPr>
        </p:nvSpPr>
        <p:spPr/>
        <p:txBody>
          <a:bodyPr>
            <a:normAutofit/>
          </a:bodyPr>
          <a:lstStyle/>
          <a:p>
            <a:r>
              <a:rPr lang="en-US" b="1" dirty="0"/>
              <a:t>Abstraction</a:t>
            </a:r>
            <a:r>
              <a:rPr lang="en-US" dirty="0"/>
              <a:t>: How to get the OS to give users an illusion of infinite memory, CPUs, resources, world wide computing, etc</a:t>
            </a:r>
            <a:r>
              <a:rPr lang="en-US" dirty="0" smtClean="0"/>
              <a:t>.</a:t>
            </a:r>
          </a:p>
          <a:p>
            <a:r>
              <a:rPr lang="en-US" b="1" dirty="0"/>
              <a:t>System Design</a:t>
            </a:r>
            <a:r>
              <a:rPr lang="en-US" dirty="0"/>
              <a:t>: How to make tradeoffs between </a:t>
            </a:r>
            <a:endParaRPr lang="en-US" dirty="0" smtClean="0"/>
          </a:p>
          <a:p>
            <a:pPr lvl="1"/>
            <a:r>
              <a:rPr lang="en-US" dirty="0" smtClean="0"/>
              <a:t>performance </a:t>
            </a:r>
            <a:r>
              <a:rPr lang="en-US" dirty="0"/>
              <a:t>and the convenience of OS </a:t>
            </a:r>
            <a:r>
              <a:rPr lang="en-US" dirty="0" smtClean="0"/>
              <a:t>abstractions</a:t>
            </a:r>
          </a:p>
          <a:p>
            <a:pPr lvl="1"/>
            <a:r>
              <a:rPr lang="en-US" dirty="0" smtClean="0"/>
              <a:t>performance </a:t>
            </a:r>
            <a:r>
              <a:rPr lang="en-US" dirty="0"/>
              <a:t>and the simplicity of OS design, </a:t>
            </a:r>
            <a:r>
              <a:rPr lang="en-US" dirty="0" smtClean="0"/>
              <a:t>and</a:t>
            </a:r>
          </a:p>
          <a:p>
            <a:pPr lvl="1"/>
            <a:r>
              <a:rPr lang="en-US" dirty="0" smtClean="0"/>
              <a:t>putting </a:t>
            </a:r>
            <a:r>
              <a:rPr lang="en-US" dirty="0"/>
              <a:t>functionality in hardware or software</a:t>
            </a:r>
            <a:r>
              <a:rPr lang="en-US" dirty="0" smtClean="0"/>
              <a:t>.</a:t>
            </a:r>
          </a:p>
          <a:p>
            <a:r>
              <a:rPr lang="en-US" b="1" dirty="0"/>
              <a:t>Basic Understanding</a:t>
            </a:r>
            <a:r>
              <a:rPr lang="en-US" dirty="0"/>
              <a:t>: The OS provides the services that allow application programs to work at all</a:t>
            </a:r>
            <a:r>
              <a:rPr lang="en-US" dirty="0" smtClean="0"/>
              <a:t>.</a:t>
            </a:r>
          </a:p>
          <a:p>
            <a:r>
              <a:rPr lang="en-US" b="1" dirty="0"/>
              <a:t>System Intersection Point</a:t>
            </a:r>
            <a:r>
              <a:rPr lang="en-US" dirty="0"/>
              <a:t>: The OS is the point where hardware and software meet.</a:t>
            </a:r>
          </a:p>
        </p:txBody>
      </p:sp>
    </p:spTree>
    <p:extLst>
      <p:ext uri="{BB962C8B-B14F-4D97-AF65-F5344CB8AC3E}">
        <p14:creationId xmlns:p14="http://schemas.microsoft.com/office/powerpoint/2010/main" val="1580103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Why Study Operating Systems</a:t>
            </a:r>
            <a:r>
              <a:rPr lang="en-US" b="1" dirty="0"/>
              <a:t>?</a:t>
            </a:r>
          </a:p>
        </p:txBody>
      </p:sp>
      <p:sp>
        <p:nvSpPr>
          <p:cNvPr id="3" name="ตัวแทนเนื้อหา 2"/>
          <p:cNvSpPr>
            <a:spLocks noGrp="1"/>
          </p:cNvSpPr>
          <p:nvPr>
            <p:ph idx="1"/>
          </p:nvPr>
        </p:nvSpPr>
        <p:spPr/>
        <p:txBody>
          <a:bodyPr>
            <a:normAutofit lnSpcReduction="10000"/>
          </a:bodyPr>
          <a:lstStyle/>
          <a:p>
            <a:pPr marL="0" indent="0">
              <a:buNone/>
            </a:pPr>
            <a:r>
              <a:rPr lang="en-US" dirty="0" smtClean="0"/>
              <a:t>Not many operating systems are under development, so you are  unlikely to get a job building an OS. However, understanding operating systems will enable you to use your computer more  effectively. They also serve as an excellent example of system  design issues whose results and ideas you will apply elsewhere.</a:t>
            </a:r>
          </a:p>
          <a:p>
            <a:r>
              <a:rPr lang="en-US" b="1" dirty="0"/>
              <a:t>Background: </a:t>
            </a:r>
            <a:r>
              <a:rPr lang="en-US" dirty="0" smtClean="0"/>
              <a:t>To understand this course you must have a  solid basic understanding of hardware (CPU instruction sets, memory hierarchies, I/O systems, etc.) and solid programming  skills ( complex data structures, classes as an encapsulation mechanism, etc.)</a:t>
            </a:r>
          </a:p>
          <a:p>
            <a:pPr lvl="1"/>
            <a:r>
              <a:rPr lang="en-US" dirty="0" smtClean="0"/>
              <a:t>Obviously, you cannot understand the implications of how  components intersect without understanding the components</a:t>
            </a:r>
            <a:r>
              <a:rPr lang="en-US" dirty="0"/>
              <a:t>.</a:t>
            </a:r>
          </a:p>
        </p:txBody>
      </p:sp>
    </p:spTree>
    <p:extLst>
      <p:ext uri="{BB962C8B-B14F-4D97-AF65-F5344CB8AC3E}">
        <p14:creationId xmlns:p14="http://schemas.microsoft.com/office/powerpoint/2010/main" val="4245231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Build Large Computer Systems</a:t>
            </a:r>
            <a:endParaRPr lang="en-US" b="1" dirty="0"/>
          </a:p>
        </p:txBody>
      </p:sp>
      <p:sp>
        <p:nvSpPr>
          <p:cNvPr id="3" name="ตัวแทนเนื้อหา 2"/>
          <p:cNvSpPr>
            <a:spLocks noGrp="1"/>
          </p:cNvSpPr>
          <p:nvPr>
            <p:ph idx="1"/>
          </p:nvPr>
        </p:nvSpPr>
        <p:spPr/>
        <p:txBody>
          <a:bodyPr>
            <a:normAutofit lnSpcReduction="10000"/>
          </a:bodyPr>
          <a:lstStyle/>
          <a:p>
            <a:r>
              <a:rPr lang="en-US" dirty="0" smtClean="0"/>
              <a:t>OS as an example of large system design</a:t>
            </a:r>
          </a:p>
          <a:p>
            <a:r>
              <a:rPr lang="en-US" dirty="0" smtClean="0"/>
              <a:t>Goals: Fast, reliable, large scale</a:t>
            </a:r>
          </a:p>
          <a:p>
            <a:r>
              <a:rPr lang="en-US" dirty="0" smtClean="0"/>
              <a:t>To build these systems, you need to know</a:t>
            </a:r>
          </a:p>
          <a:p>
            <a:pPr lvl="1"/>
            <a:r>
              <a:rPr lang="en-US" dirty="0" smtClean="0"/>
              <a:t>Each computer:</a:t>
            </a:r>
          </a:p>
          <a:p>
            <a:pPr lvl="2"/>
            <a:r>
              <a:rPr lang="en-US" dirty="0" smtClean="0"/>
              <a:t>Architectural details that matter</a:t>
            </a:r>
          </a:p>
          <a:p>
            <a:pPr lvl="2"/>
            <a:r>
              <a:rPr lang="en-US" dirty="0" smtClean="0"/>
              <a:t>C and C++ (</a:t>
            </a:r>
            <a:r>
              <a:rPr lang="en-US" dirty="0" err="1" smtClean="0"/>
              <a:t>nitty</a:t>
            </a:r>
            <a:r>
              <a:rPr lang="en-US" dirty="0" smtClean="0"/>
              <a:t> gritty &amp; more)</a:t>
            </a:r>
          </a:p>
          <a:p>
            <a:pPr lvl="2"/>
            <a:r>
              <a:rPr lang="en-US" dirty="0" smtClean="0"/>
              <a:t>Memory management &amp; locality</a:t>
            </a:r>
          </a:p>
          <a:p>
            <a:pPr lvl="2"/>
            <a:r>
              <a:rPr lang="en-US" dirty="0" smtClean="0"/>
              <a:t>Concurrency &amp; scheduling</a:t>
            </a:r>
          </a:p>
          <a:p>
            <a:pPr lvl="2"/>
            <a:r>
              <a:rPr lang="en-US" dirty="0" smtClean="0"/>
              <a:t>Disks, network, file systems</a:t>
            </a:r>
          </a:p>
          <a:p>
            <a:pPr lvl="1"/>
            <a:r>
              <a:rPr lang="en-US" dirty="0" smtClean="0"/>
              <a:t>Across cluster:</a:t>
            </a:r>
          </a:p>
          <a:p>
            <a:pPr lvl="2"/>
            <a:r>
              <a:rPr lang="en-US" dirty="0" smtClean="0"/>
              <a:t>Server architectures</a:t>
            </a:r>
          </a:p>
          <a:p>
            <a:pPr lvl="2"/>
            <a:r>
              <a:rPr lang="en-US" dirty="0" smtClean="0"/>
              <a:t>Distributed computing, file systems  </a:t>
            </a:r>
            <a:endParaRPr lang="en-US" dirty="0"/>
          </a:p>
        </p:txBody>
      </p:sp>
    </p:spTree>
    <p:extLst>
      <p:ext uri="{BB962C8B-B14F-4D97-AF65-F5344CB8AC3E}">
        <p14:creationId xmlns:p14="http://schemas.microsoft.com/office/powerpoint/2010/main" val="418276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History of Operating Systems </a:t>
            </a:r>
            <a:endParaRPr lang="en-US" b="1" dirty="0"/>
          </a:p>
        </p:txBody>
      </p:sp>
      <p:sp>
        <p:nvSpPr>
          <p:cNvPr id="3" name="ตัวแทนเนื้อหา 2"/>
          <p:cNvSpPr>
            <a:spLocks noGrp="1"/>
          </p:cNvSpPr>
          <p:nvPr>
            <p:ph idx="1"/>
          </p:nvPr>
        </p:nvSpPr>
        <p:spPr/>
        <p:txBody>
          <a:bodyPr/>
          <a:lstStyle/>
          <a:p>
            <a:r>
              <a:rPr lang="en-US" dirty="0" smtClean="0"/>
              <a:t>And now, for some historical context</a:t>
            </a:r>
          </a:p>
          <a:p>
            <a:pPr lvl="1"/>
            <a:r>
              <a:rPr lang="en-US" dirty="0" smtClean="0"/>
              <a:t>From mainframes to web-based systems in nine slides</a:t>
            </a:r>
            <a:endParaRPr lang="en-US" dirty="0"/>
          </a:p>
        </p:txBody>
      </p:sp>
    </p:spTree>
    <p:extLst>
      <p:ext uri="{BB962C8B-B14F-4D97-AF65-F5344CB8AC3E}">
        <p14:creationId xmlns:p14="http://schemas.microsoft.com/office/powerpoint/2010/main" val="1827871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1. Single User Computers</a:t>
            </a:r>
            <a:endParaRPr lang="en-US" b="1" dirty="0"/>
          </a:p>
        </p:txBody>
      </p:sp>
      <p:sp>
        <p:nvSpPr>
          <p:cNvPr id="3" name="ตัวแทนเนื้อหา 2"/>
          <p:cNvSpPr>
            <a:spLocks noGrp="1"/>
          </p:cNvSpPr>
          <p:nvPr>
            <p:ph idx="1"/>
          </p:nvPr>
        </p:nvSpPr>
        <p:spPr/>
        <p:txBody>
          <a:bodyPr/>
          <a:lstStyle/>
          <a:p>
            <a:r>
              <a:rPr lang="en-US" dirty="0" smtClean="0"/>
              <a:t>Hardware: expensive; humans: cheap</a:t>
            </a:r>
          </a:p>
          <a:p>
            <a:r>
              <a:rPr lang="en-US" dirty="0" smtClean="0"/>
              <a:t>One user at a time on console</a:t>
            </a:r>
          </a:p>
          <a:p>
            <a:pPr lvl="1"/>
            <a:r>
              <a:rPr lang="en-US" dirty="0" smtClean="0"/>
              <a:t>Interacting with as program runs</a:t>
            </a:r>
          </a:p>
          <a:p>
            <a:r>
              <a:rPr lang="en-US" dirty="0" smtClean="0"/>
              <a:t>Computer executes one function at a time</a:t>
            </a:r>
          </a:p>
          <a:p>
            <a:pPr lvl="1"/>
            <a:r>
              <a:rPr lang="en-US" dirty="0" smtClean="0"/>
              <a:t>No overlap: computation &amp; I/O</a:t>
            </a:r>
          </a:p>
          <a:p>
            <a:r>
              <a:rPr lang="en-US" dirty="0" smtClean="0"/>
              <a:t>User must be at console to debug</a:t>
            </a:r>
          </a:p>
          <a:p>
            <a:r>
              <a:rPr lang="en-US" dirty="0" smtClean="0"/>
              <a:t>Multiple users = inefficient use of machine  </a:t>
            </a:r>
            <a:endParaRPr lang="en-US" dirty="0"/>
          </a:p>
        </p:txBody>
      </p:sp>
    </p:spTree>
    <p:extLst>
      <p:ext uri="{BB962C8B-B14F-4D97-AF65-F5344CB8AC3E}">
        <p14:creationId xmlns:p14="http://schemas.microsoft.com/office/powerpoint/2010/main" val="1033298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2.Batch Processing</a:t>
            </a:r>
            <a:endParaRPr lang="en-US" b="1" dirty="0"/>
          </a:p>
        </p:txBody>
      </p:sp>
      <p:sp>
        <p:nvSpPr>
          <p:cNvPr id="3" name="ตัวแทนเนื้อหา 2"/>
          <p:cNvSpPr>
            <a:spLocks noGrp="1"/>
          </p:cNvSpPr>
          <p:nvPr>
            <p:ph idx="1"/>
          </p:nvPr>
        </p:nvSpPr>
        <p:spPr/>
        <p:txBody>
          <a:bodyPr/>
          <a:lstStyle/>
          <a:p>
            <a:r>
              <a:rPr lang="en-US" dirty="0" smtClean="0"/>
              <a:t>Execute multiple “jobs” in batch:</a:t>
            </a:r>
          </a:p>
          <a:p>
            <a:pPr lvl="1"/>
            <a:r>
              <a:rPr lang="en-US" dirty="0" smtClean="0"/>
              <a:t>Load program</a:t>
            </a:r>
          </a:p>
          <a:p>
            <a:pPr lvl="1"/>
            <a:r>
              <a:rPr lang="en-US" dirty="0" smtClean="0"/>
              <a:t>Run</a:t>
            </a:r>
          </a:p>
          <a:p>
            <a:pPr lvl="1"/>
            <a:r>
              <a:rPr lang="en-US" dirty="0" smtClean="0"/>
              <a:t>Print results, dump machine state</a:t>
            </a:r>
          </a:p>
          <a:p>
            <a:pPr lvl="1"/>
            <a:r>
              <a:rPr lang="en-US" dirty="0"/>
              <a:t>Repeat </a:t>
            </a:r>
            <a:endParaRPr lang="en-US" dirty="0" smtClean="0"/>
          </a:p>
          <a:p>
            <a:r>
              <a:rPr lang="en-US" dirty="0" smtClean="0"/>
              <a:t>Users submit jobs (on cards or tape)</a:t>
            </a:r>
          </a:p>
          <a:p>
            <a:r>
              <a:rPr lang="en-US" dirty="0" smtClean="0"/>
              <a:t>Human schedules jobs</a:t>
            </a:r>
          </a:p>
          <a:p>
            <a:r>
              <a:rPr lang="en-US" dirty="0" smtClean="0"/>
              <a:t>Operating system loads &amp; runs jobs</a:t>
            </a:r>
          </a:p>
          <a:p>
            <a:r>
              <a:rPr lang="en-US" dirty="0" smtClean="0"/>
              <a:t>More efficient use of machine</a:t>
            </a:r>
            <a:endParaRPr lang="en-US" dirty="0"/>
          </a:p>
        </p:txBody>
      </p:sp>
    </p:spTree>
    <p:extLst>
      <p:ext uri="{BB962C8B-B14F-4D97-AF65-F5344CB8AC3E}">
        <p14:creationId xmlns:p14="http://schemas.microsoft.com/office/powerpoint/2010/main" val="1001218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3. Overlap I/O and Computation</a:t>
            </a:r>
            <a:endParaRPr lang="en-US" b="1" dirty="0"/>
          </a:p>
        </p:txBody>
      </p:sp>
      <p:sp>
        <p:nvSpPr>
          <p:cNvPr id="3" name="ตัวแทนเนื้อหา 2"/>
          <p:cNvSpPr>
            <a:spLocks noGrp="1"/>
          </p:cNvSpPr>
          <p:nvPr>
            <p:ph idx="1"/>
          </p:nvPr>
        </p:nvSpPr>
        <p:spPr/>
        <p:txBody>
          <a:bodyPr/>
          <a:lstStyle/>
          <a:p>
            <a:r>
              <a:rPr lang="en-US" dirty="0" smtClean="0"/>
              <a:t>Before: machine waits for I/O to complete</a:t>
            </a:r>
          </a:p>
          <a:p>
            <a:r>
              <a:rPr lang="en-US" dirty="0" smtClean="0"/>
              <a:t>New approach:</a:t>
            </a:r>
          </a:p>
          <a:p>
            <a:pPr lvl="1"/>
            <a:r>
              <a:rPr lang="en-US" dirty="0" smtClean="0"/>
              <a:t>Allow CPU to execute while waiting</a:t>
            </a:r>
          </a:p>
          <a:p>
            <a:pPr lvl="1"/>
            <a:r>
              <a:rPr lang="en-US" dirty="0" smtClean="0"/>
              <a:t>Add buffering</a:t>
            </a:r>
          </a:p>
          <a:p>
            <a:pPr lvl="2"/>
            <a:r>
              <a:rPr lang="en-US" dirty="0" smtClean="0"/>
              <a:t>Data fills “buffer” and then output</a:t>
            </a:r>
          </a:p>
          <a:p>
            <a:pPr lvl="1"/>
            <a:r>
              <a:rPr lang="en-US" dirty="0" smtClean="0"/>
              <a:t>And interrupt handling</a:t>
            </a:r>
          </a:p>
          <a:p>
            <a:pPr lvl="2"/>
            <a:r>
              <a:rPr lang="en-US" dirty="0" smtClean="0"/>
              <a:t>I/O events trigger a signal (“</a:t>
            </a:r>
            <a:r>
              <a:rPr lang="en-US" dirty="0"/>
              <a:t>interrupt”) </a:t>
            </a:r>
            <a:endParaRPr lang="en-US" dirty="0" smtClean="0"/>
          </a:p>
          <a:p>
            <a:r>
              <a:rPr lang="en-US" dirty="0" smtClean="0"/>
              <a:t>More efficient use of machine</a:t>
            </a:r>
          </a:p>
          <a:p>
            <a:pPr lvl="1"/>
            <a:r>
              <a:rPr lang="en-US" dirty="0" smtClean="0"/>
              <a:t>Still one job at a time </a:t>
            </a:r>
            <a:endParaRPr lang="en-US" dirty="0"/>
          </a:p>
        </p:txBody>
      </p:sp>
    </p:spTree>
    <p:extLst>
      <p:ext uri="{BB962C8B-B14F-4D97-AF65-F5344CB8AC3E}">
        <p14:creationId xmlns:p14="http://schemas.microsoft.com/office/powerpoint/2010/main" val="965435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4. Multiprogramming</a:t>
            </a:r>
            <a:endParaRPr lang="en-US" b="1" dirty="0"/>
          </a:p>
        </p:txBody>
      </p:sp>
      <p:sp>
        <p:nvSpPr>
          <p:cNvPr id="3" name="ตัวแทนเนื้อหา 2"/>
          <p:cNvSpPr>
            <a:spLocks noGrp="1"/>
          </p:cNvSpPr>
          <p:nvPr>
            <p:ph idx="1"/>
          </p:nvPr>
        </p:nvSpPr>
        <p:spPr/>
        <p:txBody>
          <a:bodyPr/>
          <a:lstStyle/>
          <a:p>
            <a:r>
              <a:rPr lang="en-US" dirty="0" smtClean="0"/>
              <a:t>Several programs to run simultaneously</a:t>
            </a:r>
          </a:p>
          <a:p>
            <a:pPr lvl="1"/>
            <a:r>
              <a:rPr lang="en-US" dirty="0" smtClean="0"/>
              <a:t>Run one job until I/O</a:t>
            </a:r>
          </a:p>
          <a:p>
            <a:pPr lvl="1"/>
            <a:r>
              <a:rPr lang="en-US" dirty="0" smtClean="0"/>
              <a:t>Run another job, etc</a:t>
            </a:r>
            <a:r>
              <a:rPr lang="en-US" dirty="0"/>
              <a:t>.</a:t>
            </a:r>
            <a:endParaRPr lang="en-US" dirty="0" smtClean="0"/>
          </a:p>
          <a:p>
            <a:r>
              <a:rPr lang="en-US" dirty="0" smtClean="0"/>
              <a:t>OS manages interactions</a:t>
            </a:r>
          </a:p>
          <a:p>
            <a:pPr lvl="1"/>
            <a:r>
              <a:rPr lang="en-US" dirty="0" smtClean="0"/>
              <a:t>Which jobs to run (schedule)</a:t>
            </a:r>
          </a:p>
          <a:p>
            <a:pPr lvl="1"/>
            <a:r>
              <a:rPr lang="en-US" dirty="0" smtClean="0"/>
              <a:t>Protects program’s memory from others</a:t>
            </a:r>
          </a:p>
          <a:p>
            <a:pPr lvl="1"/>
            <a:r>
              <a:rPr lang="en-US" dirty="0" smtClean="0"/>
              <a:t>Decides which to resume when CPU available </a:t>
            </a:r>
            <a:endParaRPr lang="en-US" dirty="0"/>
          </a:p>
        </p:txBody>
      </p:sp>
    </p:spTree>
    <p:extLst>
      <p:ext uri="{BB962C8B-B14F-4D97-AF65-F5344CB8AC3E}">
        <p14:creationId xmlns:p14="http://schemas.microsoft.com/office/powerpoint/2010/main" val="3671313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OS Complexity</a:t>
            </a:r>
            <a:endParaRPr lang="en-US" b="1" dirty="0"/>
          </a:p>
        </p:txBody>
      </p:sp>
      <p:sp>
        <p:nvSpPr>
          <p:cNvPr id="3" name="ตัวแทนเนื้อหา 2"/>
          <p:cNvSpPr>
            <a:spLocks noGrp="1"/>
          </p:cNvSpPr>
          <p:nvPr>
            <p:ph idx="1"/>
          </p:nvPr>
        </p:nvSpPr>
        <p:spPr/>
        <p:txBody>
          <a:bodyPr/>
          <a:lstStyle/>
          <a:p>
            <a:r>
              <a:rPr lang="en-US" dirty="0" smtClean="0"/>
              <a:t>Increased functionality &amp; complexity</a:t>
            </a:r>
          </a:p>
          <a:p>
            <a:r>
              <a:rPr lang="en-US" dirty="0" smtClean="0"/>
              <a:t>First OS failures</a:t>
            </a:r>
          </a:p>
          <a:p>
            <a:pPr lvl="1"/>
            <a:r>
              <a:rPr lang="en-US" dirty="0" err="1" smtClean="0"/>
              <a:t>Multics</a:t>
            </a:r>
            <a:r>
              <a:rPr lang="en-US" dirty="0" smtClean="0"/>
              <a:t> (GE</a:t>
            </a:r>
            <a:r>
              <a:rPr lang="en-US" dirty="0"/>
              <a:t>(&amp;(MIT): </a:t>
            </a:r>
            <a:r>
              <a:rPr lang="en-US" dirty="0" smtClean="0"/>
              <a:t>announced 1963, released 1969</a:t>
            </a:r>
          </a:p>
          <a:p>
            <a:pPr lvl="1"/>
            <a:r>
              <a:rPr lang="en-US" dirty="0" smtClean="0"/>
              <a:t>OS/360 released with 1000 known bugs </a:t>
            </a:r>
          </a:p>
          <a:p>
            <a:r>
              <a:rPr lang="en-US" dirty="0" smtClean="0"/>
              <a:t>Need to treat OS design scientifically</a:t>
            </a:r>
          </a:p>
          <a:p>
            <a:r>
              <a:rPr lang="en-US" dirty="0" smtClean="0"/>
              <a:t>Managing complexity becomes key to</a:t>
            </a:r>
            <a:r>
              <a:rPr lang="en-US" dirty="0"/>
              <a:t>… </a:t>
            </a:r>
          </a:p>
        </p:txBody>
      </p:sp>
    </p:spTree>
    <p:extLst>
      <p:ext uri="{BB962C8B-B14F-4D97-AF65-F5344CB8AC3E}">
        <p14:creationId xmlns:p14="http://schemas.microsoft.com/office/powerpoint/2010/main" val="2357529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The Renaissance (1970’s</a:t>
            </a:r>
            <a:r>
              <a:rPr lang="en-US" b="1" dirty="0"/>
              <a:t>)</a:t>
            </a:r>
          </a:p>
        </p:txBody>
      </p:sp>
      <p:sp>
        <p:nvSpPr>
          <p:cNvPr id="3" name="ตัวแทนเนื้อหา 2"/>
          <p:cNvSpPr>
            <a:spLocks noGrp="1"/>
          </p:cNvSpPr>
          <p:nvPr>
            <p:ph idx="1"/>
          </p:nvPr>
        </p:nvSpPr>
        <p:spPr/>
        <p:txBody>
          <a:bodyPr/>
          <a:lstStyle/>
          <a:p>
            <a:r>
              <a:rPr lang="en-US" dirty="0" smtClean="0"/>
              <a:t>Hardware: cheap; humans: expensive</a:t>
            </a:r>
          </a:p>
          <a:p>
            <a:r>
              <a:rPr lang="en-US" dirty="0" smtClean="0"/>
              <a:t>Users share system via terminals</a:t>
            </a:r>
          </a:p>
          <a:p>
            <a:r>
              <a:rPr lang="en-US" dirty="0" smtClean="0"/>
              <a:t>The UNIX era</a:t>
            </a:r>
          </a:p>
          <a:p>
            <a:pPr lvl="1"/>
            <a:r>
              <a:rPr lang="en-US" dirty="0" err="1"/>
              <a:t>Multics</a:t>
            </a:r>
            <a:r>
              <a:rPr lang="en-US" dirty="0" smtClean="0"/>
              <a:t>:</a:t>
            </a:r>
          </a:p>
          <a:p>
            <a:pPr lvl="2"/>
            <a:r>
              <a:rPr lang="en-US" dirty="0"/>
              <a:t>Army of programmers, six </a:t>
            </a:r>
            <a:r>
              <a:rPr lang="en-US" dirty="0" smtClean="0"/>
              <a:t>years</a:t>
            </a:r>
          </a:p>
          <a:p>
            <a:pPr lvl="1"/>
            <a:r>
              <a:rPr lang="en-US" dirty="0" smtClean="0"/>
              <a:t>UNIX</a:t>
            </a:r>
            <a:r>
              <a:rPr lang="en-US" dirty="0"/>
              <a:t>: </a:t>
            </a:r>
            <a:endParaRPr lang="en-US" dirty="0" smtClean="0"/>
          </a:p>
          <a:p>
            <a:pPr lvl="2"/>
            <a:r>
              <a:rPr lang="en-US" dirty="0" smtClean="0"/>
              <a:t>Three guys, two years</a:t>
            </a:r>
          </a:p>
          <a:p>
            <a:pPr lvl="2"/>
            <a:r>
              <a:rPr lang="en-US" dirty="0"/>
              <a:t>“Shell</a:t>
            </a:r>
            <a:r>
              <a:rPr lang="en-US" dirty="0" smtClean="0"/>
              <a:t>”: </a:t>
            </a:r>
            <a:r>
              <a:rPr lang="en-US" dirty="0" err="1" smtClean="0"/>
              <a:t>composable</a:t>
            </a:r>
            <a:r>
              <a:rPr lang="en-US" dirty="0" smtClean="0"/>
              <a:t> commands</a:t>
            </a:r>
          </a:p>
          <a:p>
            <a:pPr lvl="2"/>
            <a:r>
              <a:rPr lang="en-US" dirty="0"/>
              <a:t>• </a:t>
            </a:r>
            <a:r>
              <a:rPr lang="en-US" dirty="0" smtClean="0"/>
              <a:t>No distinction between programs</a:t>
            </a:r>
            <a:r>
              <a:rPr lang="en-US" dirty="0"/>
              <a:t> </a:t>
            </a:r>
            <a:r>
              <a:rPr lang="en-US" dirty="0" smtClean="0"/>
              <a:t>data</a:t>
            </a:r>
          </a:p>
          <a:p>
            <a:r>
              <a:rPr lang="en-US" dirty="0" smtClean="0"/>
              <a:t>But: response time &amp; thrashing</a:t>
            </a:r>
            <a:endParaRPr lang="en-US" dirty="0"/>
          </a:p>
        </p:txBody>
      </p:sp>
    </p:spTree>
    <p:extLst>
      <p:ext uri="{BB962C8B-B14F-4D97-AF65-F5344CB8AC3E}">
        <p14:creationId xmlns:p14="http://schemas.microsoft.com/office/powerpoint/2010/main" val="1452127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Industrial Revolution (1980’s</a:t>
            </a:r>
            <a:r>
              <a:rPr lang="en-US" b="1" dirty="0"/>
              <a:t>)</a:t>
            </a:r>
          </a:p>
        </p:txBody>
      </p:sp>
      <p:sp>
        <p:nvSpPr>
          <p:cNvPr id="3" name="ตัวแทนเนื้อหา 2"/>
          <p:cNvSpPr>
            <a:spLocks noGrp="1"/>
          </p:cNvSpPr>
          <p:nvPr>
            <p:ph idx="1"/>
          </p:nvPr>
        </p:nvSpPr>
        <p:spPr/>
        <p:txBody>
          <a:bodyPr/>
          <a:lstStyle/>
          <a:p>
            <a:r>
              <a:rPr lang="en-US" dirty="0" smtClean="0"/>
              <a:t>Hardware very cheap</a:t>
            </a:r>
          </a:p>
          <a:p>
            <a:r>
              <a:rPr lang="en-US" dirty="0" smtClean="0"/>
              <a:t>Humans expensive</a:t>
            </a:r>
          </a:p>
          <a:p>
            <a:r>
              <a:rPr lang="en-US" dirty="0" smtClean="0"/>
              <a:t>Widespread use of PCs</a:t>
            </a:r>
          </a:p>
          <a:p>
            <a:pPr lvl="1"/>
            <a:r>
              <a:rPr lang="en-US" dirty="0" smtClean="0"/>
              <a:t>IBM PC: 1981, Macintosh: 1984</a:t>
            </a:r>
          </a:p>
          <a:p>
            <a:r>
              <a:rPr lang="en-US" dirty="0" smtClean="0"/>
              <a:t>Simple OS (DOS, </a:t>
            </a:r>
            <a:r>
              <a:rPr lang="en-US" dirty="0" err="1" smtClean="0"/>
              <a:t>MacOS</a:t>
            </a:r>
            <a:r>
              <a:rPr lang="en-US" dirty="0" smtClean="0"/>
              <a:t>)</a:t>
            </a:r>
          </a:p>
          <a:p>
            <a:pPr lvl="1"/>
            <a:r>
              <a:rPr lang="en-US" dirty="0"/>
              <a:t>No multiprogramming, </a:t>
            </a:r>
            <a:r>
              <a:rPr lang="en-US" dirty="0" smtClean="0"/>
              <a:t>concurrency, memory protection, virtual memory,…</a:t>
            </a:r>
          </a:p>
          <a:p>
            <a:pPr lvl="1"/>
            <a:r>
              <a:rPr lang="en-US" dirty="0" smtClean="0"/>
              <a:t>Later: networking, file-sharing, remote printing…</a:t>
            </a:r>
          </a:p>
          <a:p>
            <a:pPr lvl="1"/>
            <a:r>
              <a:rPr lang="en-US" dirty="0" smtClean="0"/>
              <a:t>GUI added to OS (“</a:t>
            </a:r>
            <a:r>
              <a:rPr lang="en-US" dirty="0"/>
              <a:t>WIMP”)</a:t>
            </a:r>
          </a:p>
        </p:txBody>
      </p:sp>
    </p:spTree>
    <p:extLst>
      <p:ext uri="{BB962C8B-B14F-4D97-AF65-F5344CB8AC3E}">
        <p14:creationId xmlns:p14="http://schemas.microsoft.com/office/powerpoint/2010/main" val="878903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The Modern Era (1990’s now</a:t>
            </a:r>
            <a:r>
              <a:rPr lang="en-US" b="1" dirty="0"/>
              <a:t>)</a:t>
            </a:r>
          </a:p>
        </p:txBody>
      </p:sp>
      <p:sp>
        <p:nvSpPr>
          <p:cNvPr id="3" name="ตัวแทนเนื้อหา 2"/>
          <p:cNvSpPr>
            <a:spLocks noGrp="1"/>
          </p:cNvSpPr>
          <p:nvPr>
            <p:ph idx="1"/>
          </p:nvPr>
        </p:nvSpPr>
        <p:spPr/>
        <p:txBody>
          <a:bodyPr/>
          <a:lstStyle/>
          <a:p>
            <a:r>
              <a:rPr lang="en-US" dirty="0" smtClean="0"/>
              <a:t>Hardware</a:t>
            </a:r>
            <a:r>
              <a:rPr lang="th-TH" dirty="0" smtClean="0"/>
              <a:t> </a:t>
            </a:r>
            <a:r>
              <a:rPr lang="en-US" dirty="0" smtClean="0"/>
              <a:t>cheap</a:t>
            </a:r>
            <a:r>
              <a:rPr lang="en-US" dirty="0"/>
              <a:t>;</a:t>
            </a:r>
            <a:r>
              <a:rPr lang="th-TH" dirty="0" smtClean="0"/>
              <a:t> </a:t>
            </a:r>
            <a:r>
              <a:rPr lang="en-US" dirty="0" smtClean="0"/>
              <a:t>processing</a:t>
            </a:r>
            <a:r>
              <a:rPr lang="th-TH" dirty="0" smtClean="0"/>
              <a:t> </a:t>
            </a:r>
            <a:r>
              <a:rPr lang="en-US" dirty="0" smtClean="0"/>
              <a:t>demands</a:t>
            </a:r>
            <a:r>
              <a:rPr lang="th-TH" dirty="0" smtClean="0"/>
              <a:t> </a:t>
            </a:r>
            <a:r>
              <a:rPr lang="en-US" dirty="0" smtClean="0"/>
              <a:t>increasing</a:t>
            </a:r>
          </a:p>
          <a:p>
            <a:r>
              <a:rPr lang="en-US" dirty="0"/>
              <a:t>“</a:t>
            </a:r>
            <a:r>
              <a:rPr lang="en-US" dirty="0" smtClean="0"/>
              <a:t>Real” operating systems on PC’s</a:t>
            </a:r>
          </a:p>
          <a:p>
            <a:pPr lvl="1"/>
            <a:r>
              <a:rPr lang="en-US" dirty="0" smtClean="0"/>
              <a:t>NT (1991); Mac OS X; Linux</a:t>
            </a:r>
          </a:p>
          <a:p>
            <a:r>
              <a:rPr lang="en-US" dirty="0" smtClean="0"/>
              <a:t>Different modalities:</a:t>
            </a:r>
          </a:p>
          <a:p>
            <a:pPr lvl="1"/>
            <a:r>
              <a:rPr lang="en-US" dirty="0" smtClean="0"/>
              <a:t>Real-time: Strict or loose deadlines</a:t>
            </a:r>
          </a:p>
          <a:p>
            <a:pPr lvl="1"/>
            <a:r>
              <a:rPr lang="en-US" dirty="0" smtClean="0"/>
              <a:t>Sensor/Embedded: Many small computers</a:t>
            </a:r>
          </a:p>
          <a:p>
            <a:pPr lvl="1"/>
            <a:r>
              <a:rPr lang="en-US" dirty="0" smtClean="0"/>
              <a:t>Parallel: Multiple processors, one machine</a:t>
            </a:r>
          </a:p>
          <a:p>
            <a:pPr lvl="1"/>
            <a:r>
              <a:rPr lang="en-US" dirty="0" smtClean="0"/>
              <a:t>Distributed: Multiple networked processors</a:t>
            </a:r>
          </a:p>
          <a:p>
            <a:pPr lvl="2"/>
            <a:r>
              <a:rPr lang="en-US" dirty="0" smtClean="0"/>
              <a:t>Think P2P, the Web, Google, cloud</a:t>
            </a:r>
            <a:endParaRPr lang="en-US" dirty="0"/>
          </a:p>
        </p:txBody>
      </p:sp>
    </p:spTree>
    <p:extLst>
      <p:ext uri="{BB962C8B-B14F-4D97-AF65-F5344CB8AC3E}">
        <p14:creationId xmlns:p14="http://schemas.microsoft.com/office/powerpoint/2010/main" val="977853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Architectural Trends</a:t>
            </a:r>
            <a:endParaRPr lang="en-US" b="1" dirty="0"/>
          </a:p>
        </p:txBody>
      </p:sp>
      <p:sp>
        <p:nvSpPr>
          <p:cNvPr id="3" name="ตัวแทนเนื้อหา 2"/>
          <p:cNvSpPr>
            <a:spLocks noGrp="1"/>
          </p:cNvSpPr>
          <p:nvPr>
            <p:ph idx="1"/>
          </p:nvPr>
        </p:nvSpPr>
        <p:spPr>
          <a:xfrm>
            <a:off x="838200" y="1825625"/>
            <a:ext cx="10515600" cy="1476375"/>
          </a:xfrm>
        </p:spPr>
        <p:txBody>
          <a:bodyPr/>
          <a:lstStyle/>
          <a:p>
            <a:r>
              <a:rPr lang="en-US" dirty="0" smtClean="0"/>
              <a:t>Big Changes</a:t>
            </a:r>
          </a:p>
          <a:p>
            <a:pPr lvl="1"/>
            <a:r>
              <a:rPr lang="en-US" dirty="0" smtClean="0"/>
              <a:t>In 50 years, almost every computer component now 9 orders of magnitude faster, larger, cheaper</a:t>
            </a:r>
            <a:endParaRPr lang="en-US" dirty="0"/>
          </a:p>
        </p:txBody>
      </p:sp>
      <p:graphicFrame>
        <p:nvGraphicFramePr>
          <p:cNvPr id="4" name="ตาราง 3"/>
          <p:cNvGraphicFramePr>
            <a:graphicFrameLocks noGrp="1"/>
          </p:cNvGraphicFramePr>
          <p:nvPr>
            <p:extLst>
              <p:ext uri="{D42A27DB-BD31-4B8C-83A1-F6EECF244321}">
                <p14:modId xmlns:p14="http://schemas.microsoft.com/office/powerpoint/2010/main" val="3694492750"/>
              </p:ext>
            </p:extLst>
          </p:nvPr>
        </p:nvGraphicFramePr>
        <p:xfrm>
          <a:off x="2806700" y="3551766"/>
          <a:ext cx="6426200" cy="2219960"/>
        </p:xfrm>
        <a:graphic>
          <a:graphicData uri="http://schemas.openxmlformats.org/drawingml/2006/table">
            <a:tbl>
              <a:tblPr firstRow="1" bandRow="1">
                <a:tableStyleId>{5C22544A-7EE6-4342-B048-85BDC9FD1C3A}</a:tableStyleId>
              </a:tblPr>
              <a:tblGrid>
                <a:gridCol w="2006600"/>
                <a:gridCol w="2222500"/>
                <a:gridCol w="2197100"/>
              </a:tblGrid>
              <a:tr h="0">
                <a:tc>
                  <a:txBody>
                    <a:bodyPr/>
                    <a:lstStyle/>
                    <a:p>
                      <a:pPr algn="ctr"/>
                      <a:r>
                        <a:rPr lang="en-US" dirty="0" smtClean="0"/>
                        <a:t>example</a:t>
                      </a:r>
                      <a:endParaRPr lang="en-US" dirty="0"/>
                    </a:p>
                  </a:txBody>
                  <a:tcPr/>
                </a:tc>
                <a:tc>
                  <a:txBody>
                    <a:bodyPr/>
                    <a:lstStyle/>
                    <a:p>
                      <a:pPr algn="ctr"/>
                      <a:r>
                        <a:rPr lang="en-US" dirty="0" smtClean="0"/>
                        <a:t>1983</a:t>
                      </a:r>
                      <a:endParaRPr lang="en-US" dirty="0"/>
                    </a:p>
                  </a:txBody>
                  <a:tcPr/>
                </a:tc>
                <a:tc>
                  <a:txBody>
                    <a:bodyPr/>
                    <a:lstStyle/>
                    <a:p>
                      <a:pPr algn="ctr"/>
                      <a:r>
                        <a:rPr lang="en-US" dirty="0" smtClean="0"/>
                        <a:t>1999</a:t>
                      </a:r>
                      <a:endParaRPr lang="en-US" dirty="0"/>
                    </a:p>
                  </a:txBody>
                  <a:tcPr/>
                </a:tc>
              </a:tr>
              <a:tr h="370840">
                <a:tc>
                  <a:txBody>
                    <a:bodyPr/>
                    <a:lstStyle/>
                    <a:p>
                      <a:pPr algn="ctr"/>
                      <a:r>
                        <a:rPr lang="en-US" dirty="0" smtClean="0"/>
                        <a:t>MIPS</a:t>
                      </a:r>
                      <a:endParaRPr lang="en-US" dirty="0"/>
                    </a:p>
                  </a:txBody>
                  <a:tcPr/>
                </a:tc>
                <a:tc>
                  <a:txBody>
                    <a:bodyPr/>
                    <a:lstStyle/>
                    <a:p>
                      <a:pPr algn="ctr"/>
                      <a:r>
                        <a:rPr lang="en-US" dirty="0" smtClean="0"/>
                        <a:t>0.5</a:t>
                      </a:r>
                      <a:endParaRPr lang="en-US" dirty="0"/>
                    </a:p>
                  </a:txBody>
                  <a:tcPr/>
                </a:tc>
                <a:tc>
                  <a:txBody>
                    <a:bodyPr/>
                    <a:lstStyle/>
                    <a:p>
                      <a:pPr algn="ctr"/>
                      <a:r>
                        <a:rPr lang="en-US" dirty="0" smtClean="0"/>
                        <a:t>500</a:t>
                      </a:r>
                      <a:endParaRPr lang="en-US" dirty="0"/>
                    </a:p>
                  </a:txBody>
                  <a:tcPr/>
                </a:tc>
              </a:tr>
              <a:tr h="370840">
                <a:tc>
                  <a:txBody>
                    <a:bodyPr/>
                    <a:lstStyle/>
                    <a:p>
                      <a:pPr algn="ctr"/>
                      <a:r>
                        <a:rPr lang="en-US" dirty="0" smtClean="0"/>
                        <a:t>Cost/MIP</a:t>
                      </a:r>
                      <a:endParaRPr lang="en-US" dirty="0"/>
                    </a:p>
                  </a:txBody>
                  <a:tcPr/>
                </a:tc>
                <a:tc>
                  <a:txBody>
                    <a:bodyPr/>
                    <a:lstStyle/>
                    <a:p>
                      <a:pPr algn="ctr"/>
                      <a:r>
                        <a:rPr lang="en-US" dirty="0" smtClean="0"/>
                        <a:t>$100000</a:t>
                      </a:r>
                      <a:endParaRPr lang="en-US" dirty="0"/>
                    </a:p>
                  </a:txBody>
                  <a:tcPr/>
                </a:tc>
                <a:tc>
                  <a:txBody>
                    <a:bodyPr/>
                    <a:lstStyle/>
                    <a:p>
                      <a:pPr algn="ctr"/>
                      <a:r>
                        <a:rPr lang="en-US" dirty="0" smtClean="0"/>
                        <a:t>$5000</a:t>
                      </a:r>
                      <a:endParaRPr lang="en-US" dirty="0"/>
                    </a:p>
                  </a:txBody>
                  <a:tcPr/>
                </a:tc>
              </a:tr>
              <a:tr h="370840">
                <a:tc>
                  <a:txBody>
                    <a:bodyPr/>
                    <a:lstStyle/>
                    <a:p>
                      <a:pPr algn="ctr"/>
                      <a:r>
                        <a:rPr lang="en-US" dirty="0" smtClean="0"/>
                        <a:t>memory</a:t>
                      </a:r>
                      <a:endParaRPr lang="en-US" dirty="0"/>
                    </a:p>
                  </a:txBody>
                  <a:tcPr/>
                </a:tc>
                <a:tc>
                  <a:txBody>
                    <a:bodyPr/>
                    <a:lstStyle/>
                    <a:p>
                      <a:pPr algn="ctr"/>
                      <a:r>
                        <a:rPr lang="en-US" dirty="0" smtClean="0"/>
                        <a:t>1 MB</a:t>
                      </a:r>
                      <a:endParaRPr lang="en-US" dirty="0"/>
                    </a:p>
                  </a:txBody>
                  <a:tcPr/>
                </a:tc>
                <a:tc>
                  <a:txBody>
                    <a:bodyPr/>
                    <a:lstStyle/>
                    <a:p>
                      <a:pPr algn="ctr"/>
                      <a:r>
                        <a:rPr lang="en-US" dirty="0" smtClean="0"/>
                        <a:t>1 GB</a:t>
                      </a:r>
                      <a:endParaRPr lang="en-US" dirty="0"/>
                    </a:p>
                  </a:txBody>
                  <a:tcPr/>
                </a:tc>
              </a:tr>
              <a:tr h="370840">
                <a:tc>
                  <a:txBody>
                    <a:bodyPr/>
                    <a:lstStyle/>
                    <a:p>
                      <a:pPr algn="ctr"/>
                      <a:r>
                        <a:rPr lang="en-US" dirty="0" smtClean="0"/>
                        <a:t>network</a:t>
                      </a:r>
                      <a:endParaRPr lang="en-US" dirty="0"/>
                    </a:p>
                  </a:txBody>
                  <a:tcPr/>
                </a:tc>
                <a:tc>
                  <a:txBody>
                    <a:bodyPr/>
                    <a:lstStyle/>
                    <a:p>
                      <a:pPr algn="ctr"/>
                      <a:r>
                        <a:rPr lang="en-US" dirty="0" smtClean="0"/>
                        <a:t>10 Mb/s</a:t>
                      </a:r>
                      <a:endParaRPr lang="en-US" dirty="0"/>
                    </a:p>
                  </a:txBody>
                  <a:tcPr/>
                </a:tc>
                <a:tc>
                  <a:txBody>
                    <a:bodyPr/>
                    <a:lstStyle/>
                    <a:p>
                      <a:pPr algn="ctr"/>
                      <a:r>
                        <a:rPr lang="en-US" dirty="0" smtClean="0"/>
                        <a:t>1 Gb/s</a:t>
                      </a:r>
                      <a:endParaRPr lang="en-US" dirty="0"/>
                    </a:p>
                  </a:txBody>
                  <a:tcPr/>
                </a:tc>
              </a:tr>
              <a:tr h="370840">
                <a:tc>
                  <a:txBody>
                    <a:bodyPr/>
                    <a:lstStyle/>
                    <a:p>
                      <a:pPr algn="ctr"/>
                      <a:r>
                        <a:rPr lang="en-US" dirty="0" smtClean="0"/>
                        <a:t>disk</a:t>
                      </a:r>
                      <a:endParaRPr lang="en-US" dirty="0"/>
                    </a:p>
                  </a:txBody>
                  <a:tcPr/>
                </a:tc>
                <a:tc>
                  <a:txBody>
                    <a:bodyPr/>
                    <a:lstStyle/>
                    <a:p>
                      <a:pPr algn="ctr"/>
                      <a:r>
                        <a:rPr lang="en-US" dirty="0" smtClean="0"/>
                        <a:t>1 GB</a:t>
                      </a:r>
                      <a:endParaRPr lang="en-US" dirty="0"/>
                    </a:p>
                  </a:txBody>
                  <a:tcPr/>
                </a:tc>
                <a:tc>
                  <a:txBody>
                    <a:bodyPr/>
                    <a:lstStyle/>
                    <a:p>
                      <a:pPr algn="ctr"/>
                      <a:r>
                        <a:rPr lang="en-US" dirty="0" smtClean="0"/>
                        <a:t>1 TB</a:t>
                      </a:r>
                      <a:endParaRPr lang="en-US" dirty="0"/>
                    </a:p>
                  </a:txBody>
                  <a:tcPr/>
                </a:tc>
              </a:tr>
            </a:tbl>
          </a:graphicData>
        </a:graphic>
      </p:graphicFrame>
    </p:spTree>
    <p:extLst>
      <p:ext uri="{BB962C8B-B14F-4D97-AF65-F5344CB8AC3E}">
        <p14:creationId xmlns:p14="http://schemas.microsoft.com/office/powerpoint/2010/main" val="534511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History Lesson</a:t>
            </a:r>
            <a:endParaRPr lang="en-US" b="1" dirty="0"/>
          </a:p>
        </p:txBody>
      </p:sp>
      <p:sp>
        <p:nvSpPr>
          <p:cNvPr id="3" name="ตัวแทนเนื้อหา 2"/>
          <p:cNvSpPr>
            <a:spLocks noGrp="1"/>
          </p:cNvSpPr>
          <p:nvPr>
            <p:ph idx="1"/>
          </p:nvPr>
        </p:nvSpPr>
        <p:spPr/>
        <p:txBody>
          <a:bodyPr>
            <a:normAutofit lnSpcReduction="10000"/>
          </a:bodyPr>
          <a:lstStyle/>
          <a:p>
            <a:pPr marL="0" indent="0">
              <a:buNone/>
            </a:pPr>
            <a:r>
              <a:rPr lang="en-US" dirty="0" smtClean="0"/>
              <a:t>This degree of change has no counterpart in any other area of  </a:t>
            </a:r>
            <a:r>
              <a:rPr lang="en-US" dirty="0"/>
              <a:t>business</a:t>
            </a:r>
            <a:r>
              <a:rPr lang="en-US" dirty="0" smtClean="0"/>
              <a:t>.</a:t>
            </a:r>
          </a:p>
          <a:p>
            <a:pPr marL="0" indent="0">
              <a:buNone/>
            </a:pPr>
            <a:endParaRPr lang="en-US" dirty="0" smtClean="0"/>
          </a:p>
          <a:p>
            <a:pPr marL="0" indent="0">
              <a:buNone/>
            </a:pPr>
            <a:r>
              <a:rPr lang="en-US" b="1" dirty="0" smtClean="0"/>
              <a:t>Examples:</a:t>
            </a:r>
          </a:p>
          <a:p>
            <a:r>
              <a:rPr lang="en-US" dirty="0" smtClean="0"/>
              <a:t>Transportation -- over the last 200 years, we have gone from  horseback (10 miles/hour) to the Concorde (1000(miles/hour) – 2 orders of magnitude.</a:t>
            </a:r>
          </a:p>
          <a:p>
            <a:r>
              <a:rPr lang="en-US" dirty="0" smtClean="0"/>
              <a:t>Communication – at the invention of the telephone (voice), TV </a:t>
            </a:r>
            <a:r>
              <a:rPr lang="en-US" dirty="0"/>
              <a:t>(</a:t>
            </a:r>
            <a:r>
              <a:rPr lang="en-US" dirty="0" smtClean="0"/>
              <a:t>video) and fax (text &amp; pictures), communication went from the speed of transportation to nearly the speed of light -  7 orders of magnitude</a:t>
            </a:r>
            <a:r>
              <a:rPr lang="en-US" dirty="0"/>
              <a:t>.</a:t>
            </a:r>
          </a:p>
        </p:txBody>
      </p:sp>
    </p:spTree>
    <p:extLst>
      <p:ext uri="{BB962C8B-B14F-4D97-AF65-F5344CB8AC3E}">
        <p14:creationId xmlns:p14="http://schemas.microsoft.com/office/powerpoint/2010/main" val="152839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a:t>10^0</a:t>
            </a:r>
          </a:p>
        </p:txBody>
      </p:sp>
      <p:pic>
        <p:nvPicPr>
          <p:cNvPr id="4" name="รูปภาพ 3"/>
          <p:cNvPicPr>
            <a:picLocks noChangeAspect="1"/>
          </p:cNvPicPr>
          <p:nvPr/>
        </p:nvPicPr>
        <p:blipFill rotWithShape="1">
          <a:blip r:embed="rId2"/>
          <a:srcRect l="46778" t="37555" r="31170" b="23221"/>
          <a:stretch/>
        </p:blipFill>
        <p:spPr>
          <a:xfrm>
            <a:off x="5651500" y="1027906"/>
            <a:ext cx="5283200" cy="5283202"/>
          </a:xfrm>
          <a:prstGeom prst="rect">
            <a:avLst/>
          </a:prstGeom>
        </p:spPr>
      </p:pic>
    </p:spTree>
    <p:extLst>
      <p:ext uri="{BB962C8B-B14F-4D97-AF65-F5344CB8AC3E}">
        <p14:creationId xmlns:p14="http://schemas.microsoft.com/office/powerpoint/2010/main" val="1711374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10^1</a:t>
            </a:r>
            <a:endParaRPr lang="en-US" dirty="0"/>
          </a:p>
        </p:txBody>
      </p:sp>
      <p:pic>
        <p:nvPicPr>
          <p:cNvPr id="5" name="รูปภาพ 4"/>
          <p:cNvPicPr>
            <a:picLocks noChangeAspect="1"/>
          </p:cNvPicPr>
          <p:nvPr/>
        </p:nvPicPr>
        <p:blipFill rotWithShape="1">
          <a:blip r:embed="rId2"/>
          <a:srcRect l="47377" t="28779" r="31099" b="30825"/>
          <a:stretch/>
        </p:blipFill>
        <p:spPr>
          <a:xfrm>
            <a:off x="5619750" y="1027906"/>
            <a:ext cx="5285232" cy="5576831"/>
          </a:xfrm>
          <a:prstGeom prst="rect">
            <a:avLst/>
          </a:prstGeom>
        </p:spPr>
      </p:pic>
    </p:spTree>
    <p:extLst>
      <p:ext uri="{BB962C8B-B14F-4D97-AF65-F5344CB8AC3E}">
        <p14:creationId xmlns:p14="http://schemas.microsoft.com/office/powerpoint/2010/main" val="1732491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10^2</a:t>
            </a:r>
            <a:endParaRPr lang="en-US" dirty="0"/>
          </a:p>
        </p:txBody>
      </p:sp>
      <p:pic>
        <p:nvPicPr>
          <p:cNvPr id="4" name="รูปภาพ 3"/>
          <p:cNvPicPr>
            <a:picLocks noChangeAspect="1"/>
          </p:cNvPicPr>
          <p:nvPr/>
        </p:nvPicPr>
        <p:blipFill rotWithShape="1">
          <a:blip r:embed="rId2"/>
          <a:srcRect l="47040" t="42585" r="31003" b="19098"/>
          <a:stretch/>
        </p:blipFill>
        <p:spPr>
          <a:xfrm>
            <a:off x="5626099" y="1027906"/>
            <a:ext cx="5386868" cy="5285232"/>
          </a:xfrm>
          <a:prstGeom prst="rect">
            <a:avLst/>
          </a:prstGeom>
        </p:spPr>
      </p:pic>
    </p:spTree>
    <p:extLst>
      <p:ext uri="{BB962C8B-B14F-4D97-AF65-F5344CB8AC3E}">
        <p14:creationId xmlns:p14="http://schemas.microsoft.com/office/powerpoint/2010/main" val="1401749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10^3</a:t>
            </a:r>
            <a:endParaRPr lang="en-US" dirty="0"/>
          </a:p>
        </p:txBody>
      </p:sp>
      <p:pic>
        <p:nvPicPr>
          <p:cNvPr id="5" name="รูปภาพ 4"/>
          <p:cNvPicPr>
            <a:picLocks noChangeAspect="1"/>
          </p:cNvPicPr>
          <p:nvPr/>
        </p:nvPicPr>
        <p:blipFill rotWithShape="1">
          <a:blip r:embed="rId2"/>
          <a:srcRect l="47057" t="33590" r="31319" b="26667"/>
          <a:stretch/>
        </p:blipFill>
        <p:spPr>
          <a:xfrm>
            <a:off x="5549899" y="1027906"/>
            <a:ext cx="5285232" cy="5461406"/>
          </a:xfrm>
          <a:prstGeom prst="rect">
            <a:avLst/>
          </a:prstGeom>
        </p:spPr>
      </p:pic>
    </p:spTree>
    <p:extLst>
      <p:ext uri="{BB962C8B-B14F-4D97-AF65-F5344CB8AC3E}">
        <p14:creationId xmlns:p14="http://schemas.microsoft.com/office/powerpoint/2010/main" val="403075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10^4</a:t>
            </a:r>
            <a:endParaRPr lang="en-US" dirty="0"/>
          </a:p>
        </p:txBody>
      </p:sp>
      <p:pic>
        <p:nvPicPr>
          <p:cNvPr id="4" name="รูปภาพ 3"/>
          <p:cNvPicPr>
            <a:picLocks noChangeAspect="1"/>
          </p:cNvPicPr>
          <p:nvPr/>
        </p:nvPicPr>
        <p:blipFill rotWithShape="1">
          <a:blip r:embed="rId2"/>
          <a:srcRect l="47030" t="34712" r="30684" b="25649"/>
          <a:stretch/>
        </p:blipFill>
        <p:spPr>
          <a:xfrm>
            <a:off x="5600700" y="1027906"/>
            <a:ext cx="5285232" cy="5285232"/>
          </a:xfrm>
          <a:prstGeom prst="rect">
            <a:avLst/>
          </a:prstGeom>
        </p:spPr>
      </p:pic>
    </p:spTree>
    <p:extLst>
      <p:ext uri="{BB962C8B-B14F-4D97-AF65-F5344CB8AC3E}">
        <p14:creationId xmlns:p14="http://schemas.microsoft.com/office/powerpoint/2010/main" val="2873581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10^5</a:t>
            </a:r>
            <a:endParaRPr lang="en-US" dirty="0"/>
          </a:p>
        </p:txBody>
      </p:sp>
      <p:pic>
        <p:nvPicPr>
          <p:cNvPr id="5" name="รูปภาพ 4"/>
          <p:cNvPicPr>
            <a:picLocks noChangeAspect="1"/>
          </p:cNvPicPr>
          <p:nvPr/>
        </p:nvPicPr>
        <p:blipFill rotWithShape="1">
          <a:blip r:embed="rId2"/>
          <a:srcRect l="46963" t="38490" r="30588" b="21582"/>
          <a:stretch/>
        </p:blipFill>
        <p:spPr>
          <a:xfrm>
            <a:off x="5562600" y="914400"/>
            <a:ext cx="5285232" cy="5285232"/>
          </a:xfrm>
          <a:prstGeom prst="rect">
            <a:avLst/>
          </a:prstGeom>
        </p:spPr>
      </p:pic>
    </p:spTree>
    <p:extLst>
      <p:ext uri="{BB962C8B-B14F-4D97-AF65-F5344CB8AC3E}">
        <p14:creationId xmlns:p14="http://schemas.microsoft.com/office/powerpoint/2010/main" val="565894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10^6</a:t>
            </a:r>
            <a:endParaRPr lang="en-US" dirty="0"/>
          </a:p>
        </p:txBody>
      </p:sp>
      <p:pic>
        <p:nvPicPr>
          <p:cNvPr id="4" name="รูปภาพ 3"/>
          <p:cNvPicPr>
            <a:picLocks noChangeAspect="1"/>
          </p:cNvPicPr>
          <p:nvPr/>
        </p:nvPicPr>
        <p:blipFill rotWithShape="1">
          <a:blip r:embed="rId2"/>
          <a:srcRect l="46811" t="39857" r="30608" b="21346"/>
          <a:stretch/>
        </p:blipFill>
        <p:spPr>
          <a:xfrm>
            <a:off x="5626099" y="1027906"/>
            <a:ext cx="5471335" cy="5285232"/>
          </a:xfrm>
          <a:prstGeom prst="rect">
            <a:avLst/>
          </a:prstGeom>
        </p:spPr>
      </p:pic>
    </p:spTree>
    <p:extLst>
      <p:ext uri="{BB962C8B-B14F-4D97-AF65-F5344CB8AC3E}">
        <p14:creationId xmlns:p14="http://schemas.microsoft.com/office/powerpoint/2010/main" val="2149890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10^7</a:t>
            </a:r>
            <a:endParaRPr lang="en-US" dirty="0"/>
          </a:p>
        </p:txBody>
      </p:sp>
      <p:pic>
        <p:nvPicPr>
          <p:cNvPr id="5" name="รูปภาพ 4"/>
          <p:cNvPicPr>
            <a:picLocks noChangeAspect="1"/>
          </p:cNvPicPr>
          <p:nvPr/>
        </p:nvPicPr>
        <p:blipFill rotWithShape="1">
          <a:blip r:embed="rId2"/>
          <a:srcRect l="46773" t="43925" r="30870" b="17089"/>
          <a:stretch/>
        </p:blipFill>
        <p:spPr>
          <a:xfrm>
            <a:off x="5549899" y="1027906"/>
            <a:ext cx="5390939" cy="5285232"/>
          </a:xfrm>
          <a:prstGeom prst="rect">
            <a:avLst/>
          </a:prstGeom>
        </p:spPr>
      </p:pic>
    </p:spTree>
    <p:extLst>
      <p:ext uri="{BB962C8B-B14F-4D97-AF65-F5344CB8AC3E}">
        <p14:creationId xmlns:p14="http://schemas.microsoft.com/office/powerpoint/2010/main" val="253617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Orders of Magnitude</a:t>
            </a:r>
            <a:endParaRPr lang="en-US" b="1" dirty="0"/>
          </a:p>
        </p:txBody>
      </p:sp>
      <p:sp>
        <p:nvSpPr>
          <p:cNvPr id="3" name="ตัวแทนเนื้อหา 2"/>
          <p:cNvSpPr>
            <a:spLocks noGrp="1"/>
          </p:cNvSpPr>
          <p:nvPr>
            <p:ph idx="1"/>
          </p:nvPr>
        </p:nvSpPr>
        <p:spPr>
          <a:xfrm>
            <a:off x="838200" y="1825625"/>
            <a:ext cx="10515600" cy="549275"/>
          </a:xfrm>
        </p:spPr>
        <p:txBody>
          <a:bodyPr/>
          <a:lstStyle/>
          <a:p>
            <a:r>
              <a:rPr lang="en-US" dirty="0" smtClean="0"/>
              <a:t>10^8</a:t>
            </a:r>
            <a:endParaRPr lang="en-US" dirty="0"/>
          </a:p>
        </p:txBody>
      </p:sp>
      <p:pic>
        <p:nvPicPr>
          <p:cNvPr id="4" name="รูปภาพ 3"/>
          <p:cNvPicPr>
            <a:picLocks noChangeAspect="1"/>
          </p:cNvPicPr>
          <p:nvPr/>
        </p:nvPicPr>
        <p:blipFill rotWithShape="1">
          <a:blip r:embed="rId2"/>
          <a:srcRect l="47342" t="31742" r="30858" b="29191"/>
          <a:stretch/>
        </p:blipFill>
        <p:spPr>
          <a:xfrm>
            <a:off x="5676900" y="1027906"/>
            <a:ext cx="5245790" cy="5285232"/>
          </a:xfrm>
          <a:prstGeom prst="rect">
            <a:avLst/>
          </a:prstGeom>
        </p:spPr>
      </p:pic>
    </p:spTree>
    <p:extLst>
      <p:ext uri="{BB962C8B-B14F-4D97-AF65-F5344CB8AC3E}">
        <p14:creationId xmlns:p14="http://schemas.microsoft.com/office/powerpoint/2010/main" val="90461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ชื่อเรื่อง 1"/>
          <p:cNvSpPr>
            <a:spLocks noGrp="1"/>
          </p:cNvSpPr>
          <p:nvPr>
            <p:ph type="title"/>
          </p:nvPr>
        </p:nvSpPr>
        <p:spPr/>
        <p:txBody>
          <a:bodyPr/>
          <a:lstStyle/>
          <a:p>
            <a:r>
              <a:rPr lang="en-US" b="1" dirty="0" smtClean="0"/>
              <a:t>Now OS</a:t>
            </a:r>
            <a:endParaRPr lang="en-US" b="1" dirty="0"/>
          </a:p>
        </p:txBody>
      </p:sp>
      <p:sp>
        <p:nvSpPr>
          <p:cNvPr id="3" name="ตัวแทนเนื้อหา 2"/>
          <p:cNvSpPr>
            <a:spLocks noGrp="1"/>
          </p:cNvSpPr>
          <p:nvPr>
            <p:ph idx="1"/>
          </p:nvPr>
        </p:nvSpPr>
        <p:spPr/>
        <p:txBody>
          <a:bodyPr/>
          <a:lstStyle/>
          <a:p>
            <a:r>
              <a:rPr lang="en-US" dirty="0" smtClean="0"/>
              <a:t>Moore’s Law – running out of steam</a:t>
            </a:r>
          </a:p>
          <a:p>
            <a:r>
              <a:rPr lang="en-US" dirty="0" smtClean="0"/>
              <a:t>Now “features”</a:t>
            </a:r>
          </a:p>
          <a:p>
            <a:pPr lvl="1"/>
            <a:r>
              <a:rPr lang="en-US" dirty="0" smtClean="0"/>
              <a:t>Multiple cores</a:t>
            </a:r>
          </a:p>
          <a:p>
            <a:pPr lvl="1"/>
            <a:r>
              <a:rPr lang="en-US" dirty="0" smtClean="0"/>
              <a:t>Unreliable memory</a:t>
            </a:r>
          </a:p>
          <a:p>
            <a:pPr lvl="1"/>
            <a:r>
              <a:rPr lang="en-US" dirty="0" smtClean="0"/>
              <a:t>Solid state drives</a:t>
            </a:r>
          </a:p>
          <a:p>
            <a:pPr lvl="1"/>
            <a:r>
              <a:rPr lang="en-US" dirty="0" smtClean="0"/>
              <a:t>Serious power/heat constraints</a:t>
            </a:r>
          </a:p>
          <a:p>
            <a:r>
              <a:rPr lang="en-US" dirty="0" smtClean="0"/>
              <a:t>Other tradeoffs possible</a:t>
            </a:r>
          </a:p>
          <a:p>
            <a:pPr lvl="1"/>
            <a:r>
              <a:rPr lang="en-US" dirty="0" smtClean="0"/>
              <a:t>Computing power for reliability</a:t>
            </a:r>
            <a:r>
              <a:rPr lang="en-US" dirty="0"/>
              <a:t>…</a:t>
            </a:r>
          </a:p>
        </p:txBody>
      </p:sp>
    </p:spTree>
    <p:extLst>
      <p:ext uri="{BB962C8B-B14F-4D97-AF65-F5344CB8AC3E}">
        <p14:creationId xmlns:p14="http://schemas.microsoft.com/office/powerpoint/2010/main" val="2478308691"/>
      </p:ext>
    </p:extLst>
  </p:cSld>
  <p:clrMapOvr>
    <a:masterClrMapping/>
  </p:clrMapOvr>
</p:sld>
</file>

<file path=ppt/theme/theme1.xml><?xml version="1.0" encoding="utf-8"?>
<a:theme xmlns:a="http://schemas.openxmlformats.org/drawingml/2006/main" name="ธีมของ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1428</Words>
  <Application>Microsoft Office PowerPoint</Application>
  <PresentationFormat>แบบจอกว้าง</PresentationFormat>
  <Paragraphs>257</Paragraphs>
  <Slides>39</Slides>
  <Notes>0</Notes>
  <HiddenSlides>0</HiddenSlides>
  <MMClips>0</MMClips>
  <ScaleCrop>false</ScaleCrop>
  <HeadingPairs>
    <vt:vector size="6" baseType="variant">
      <vt:variant>
        <vt:lpstr>ฟอนต์ที่ถูกใช้</vt:lpstr>
      </vt:variant>
      <vt:variant>
        <vt:i4>5</vt:i4>
      </vt:variant>
      <vt:variant>
        <vt:lpstr>ธีม</vt:lpstr>
      </vt:variant>
      <vt:variant>
        <vt:i4>1</vt:i4>
      </vt:variant>
      <vt:variant>
        <vt:lpstr>ชื่อเรื่องสไลด์</vt:lpstr>
      </vt:variant>
      <vt:variant>
        <vt:i4>39</vt:i4>
      </vt:variant>
    </vt:vector>
  </HeadingPairs>
  <TitlesOfParts>
    <vt:vector size="45" baseType="lpstr">
      <vt:lpstr>Angsana New</vt:lpstr>
      <vt:lpstr>Arial</vt:lpstr>
      <vt:lpstr>Calibri</vt:lpstr>
      <vt:lpstr>Calibri Light</vt:lpstr>
      <vt:lpstr>Cordia New</vt:lpstr>
      <vt:lpstr>ธีมของ Office</vt:lpstr>
      <vt:lpstr>CPE3333 Operating Systems</vt:lpstr>
      <vt:lpstr>Today’s Class</vt:lpstr>
      <vt:lpstr>Organization Information</vt:lpstr>
      <vt:lpstr>Prerequisites and Syllabus</vt:lpstr>
      <vt:lpstr>Course Resources</vt:lpstr>
      <vt:lpstr>Course Requirements</vt:lpstr>
      <vt:lpstr>Labs</vt:lpstr>
      <vt:lpstr>Cell Phone and Laptop Policy</vt:lpstr>
      <vt:lpstr>Course Outline &amp; Topics</vt:lpstr>
      <vt:lpstr>What’s An Operating System?</vt:lpstr>
      <vt:lpstr>What’s an OS? Bill Gates says…</vt:lpstr>
      <vt:lpstr>OS: Traditional View</vt:lpstr>
      <vt:lpstr>New Developments in OS</vt:lpstr>
      <vt:lpstr>Linux Kernel Size</vt:lpstr>
      <vt:lpstr>Operating Sys: Salient Features</vt:lpstr>
      <vt:lpstr>Why Study Operating Systems?</vt:lpstr>
      <vt:lpstr>Why Study Operating Systems?</vt:lpstr>
      <vt:lpstr>Build Large Computer Systems</vt:lpstr>
      <vt:lpstr>History of Operating Systems </vt:lpstr>
      <vt:lpstr>1. Single User Computers</vt:lpstr>
      <vt:lpstr>2.Batch Processing</vt:lpstr>
      <vt:lpstr>3. Overlap I/O and Computation</vt:lpstr>
      <vt:lpstr>4. Multiprogramming</vt:lpstr>
      <vt:lpstr>OS Complexity</vt:lpstr>
      <vt:lpstr>The Renaissance (1970’s)</vt:lpstr>
      <vt:lpstr>Industrial Revolution (1980’s)</vt:lpstr>
      <vt:lpstr>The Modern Era (1990’s now)</vt:lpstr>
      <vt:lpstr>Architectural Trends</vt:lpstr>
      <vt:lpstr>History Lesson</vt:lpstr>
      <vt:lpstr>Orders of Magnitude</vt:lpstr>
      <vt:lpstr>Orders of Magnitude</vt:lpstr>
      <vt:lpstr>Orders of Magnitude</vt:lpstr>
      <vt:lpstr>Orders of Magnitude</vt:lpstr>
      <vt:lpstr>Orders of Magnitude</vt:lpstr>
      <vt:lpstr>Orders of Magnitude</vt:lpstr>
      <vt:lpstr>Orders of Magnitude</vt:lpstr>
      <vt:lpstr>Orders of Magnitude</vt:lpstr>
      <vt:lpstr>Orders of Magnitude</vt:lpstr>
      <vt:lpstr>Now OS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CPE3333 Operating Systems</dc:title>
  <dc:creator>บัญชี Microsoft</dc:creator>
  <cp:lastModifiedBy>บัญชี Microsoft</cp:lastModifiedBy>
  <cp:revision>27</cp:revision>
  <dcterms:created xsi:type="dcterms:W3CDTF">2022-08-03T02:49:32Z</dcterms:created>
  <dcterms:modified xsi:type="dcterms:W3CDTF">2026-08-04T05:12:17Z</dcterms:modified>
</cp:coreProperties>
</file>